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8"/>
  </p:notesMasterIdLst>
  <p:sldIdLst>
    <p:sldId id="271" r:id="rId2"/>
    <p:sldId id="256" r:id="rId3"/>
    <p:sldId id="259" r:id="rId4"/>
    <p:sldId id="273" r:id="rId5"/>
    <p:sldId id="274" r:id="rId6"/>
    <p:sldId id="275" r:id="rId7"/>
    <p:sldId id="276" r:id="rId8"/>
    <p:sldId id="279" r:id="rId9"/>
    <p:sldId id="260" r:id="rId10"/>
    <p:sldId id="280" r:id="rId11"/>
    <p:sldId id="284" r:id="rId12"/>
    <p:sldId id="281" r:id="rId13"/>
    <p:sldId id="282" r:id="rId14"/>
    <p:sldId id="283" r:id="rId15"/>
    <p:sldId id="261" r:id="rId16"/>
    <p:sldId id="270" r:id="rId1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9376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672061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08905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99383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4482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51612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37952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82991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672100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690568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940413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1885950"/>
            <a:ext cx="6686549" cy="1697086"/>
          </a:xfrm>
        </p:spPr>
        <p:txBody>
          <a:bodyPr anchor="b">
            <a:normAutofit/>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1941910" y="3583035"/>
            <a:ext cx="6686549" cy="844712"/>
          </a:xfr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3242858"/>
            <a:ext cx="1308489" cy="583942"/>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3397155"/>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6289208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468082"/>
            <a:ext cx="6683765" cy="960668"/>
          </a:xfrm>
        </p:spPr>
        <p:txBody>
          <a:bodyPr/>
          <a:lstStyle/>
          <a:p>
            <a:r>
              <a:rPr lang="en-US"/>
              <a:t>Click to edit Master title style</a:t>
            </a:r>
            <a:endParaRPr lang="en-US" dirty="0"/>
          </a:p>
        </p:txBody>
      </p:sp>
      <p:sp>
        <p:nvSpPr>
          <p:cNvPr id="3" name="Content Placeholder 2"/>
          <p:cNvSpPr>
            <a:spLocks noGrp="1"/>
          </p:cNvSpPr>
          <p:nvPr>
            <p:ph idx="1"/>
          </p:nvPr>
        </p:nvSpPr>
        <p:spPr>
          <a:xfrm>
            <a:off x="1941909" y="1600200"/>
            <a:ext cx="6686550" cy="28332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059917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1910" y="1544063"/>
            <a:ext cx="6686549" cy="1101600"/>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2647597"/>
            <a:ext cx="6686549" cy="645300"/>
          </a:xfrm>
        </p:spPr>
        <p:txBody>
          <a:bodyPr anchor="t"/>
          <a:lstStyle>
            <a:lvl1pPr marL="0" indent="0" algn="l">
              <a:buNone/>
              <a:defRPr sz="150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0371251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1909" y="1600200"/>
            <a:ext cx="3235398" cy="28332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93060" y="1594666"/>
            <a:ext cx="3235398" cy="28332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590837"/>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6382660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04530" y="1479527"/>
            <a:ext cx="2994549"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941909" y="1911725"/>
            <a:ext cx="3257170" cy="25155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29972" y="1477106"/>
            <a:ext cx="2999251"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375218" y="1909304"/>
            <a:ext cx="3254006" cy="25155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590837"/>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94092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685726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823437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334566"/>
            <a:ext cx="2628899" cy="732234"/>
          </a:xfrm>
        </p:spPr>
        <p:txBody>
          <a:bodyPr anchor="b"/>
          <a:lstStyle>
            <a:lvl1pPr algn="l">
              <a:defRPr sz="1500" b="0"/>
            </a:lvl1pPr>
          </a:lstStyle>
          <a:p>
            <a:r>
              <a:rPr lang="en-US"/>
              <a:t>Click to edit Master title style</a:t>
            </a:r>
            <a:endParaRPr lang="en-US" dirty="0"/>
          </a:p>
        </p:txBody>
      </p:sp>
      <p:sp>
        <p:nvSpPr>
          <p:cNvPr id="3" name="Content Placeholder 2"/>
          <p:cNvSpPr>
            <a:spLocks noGrp="1"/>
          </p:cNvSpPr>
          <p:nvPr>
            <p:ph idx="1"/>
          </p:nvPr>
        </p:nvSpPr>
        <p:spPr>
          <a:xfrm>
            <a:off x="4742259" y="334567"/>
            <a:ext cx="3886200" cy="4061222"/>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1910" y="1198960"/>
            <a:ext cx="2628899" cy="319682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2666761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3600450"/>
            <a:ext cx="668655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1909" y="476224"/>
            <a:ext cx="6686550" cy="2891228"/>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1941910" y="4025504"/>
            <a:ext cx="6686550"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067670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57200"/>
            <a:ext cx="6686549" cy="2337780"/>
          </a:xfrm>
        </p:spPr>
        <p:txBody>
          <a:bodyPr anchor="ctr">
            <a:normAutofit/>
          </a:bodyPr>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419353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56259" y="2628900"/>
            <a:ext cx="5652416"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1910" y="3265535"/>
            <a:ext cx="6686549" cy="1166898"/>
          </a:xfrm>
        </p:spPr>
        <p:txBody>
          <a:bodyPr anchor="ctr">
            <a:normAutofit/>
          </a:bodyPr>
          <a:lstStyle>
            <a:lvl1pPr marL="0" indent="0" algn="l">
              <a:buNone/>
              <a:defRPr sz="1350">
                <a:solidFill>
                  <a:schemeClr val="tx1">
                    <a:lumMod val="65000"/>
                    <a:lumOff val="3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3141" y="238363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2433105"/>
            <a:ext cx="584825" cy="273844"/>
          </a:xfrm>
        </p:spPr>
        <p:txBody>
          <a:bodyPr/>
          <a:lstStyle/>
          <a:p>
            <a:fld id="{D57F1E4F-1CFF-5643-939E-217C01CDF565}" type="slidenum">
              <a:rPr lang="en-US" dirty="0"/>
              <a:pPr/>
              <a:t>‹#›</a:t>
            </a:fld>
            <a:endParaRPr lang="en-US" dirty="0"/>
          </a:p>
        </p:txBody>
      </p:sp>
      <p:sp>
        <p:nvSpPr>
          <p:cNvPr id="14" name="TextBox 13"/>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5" name="TextBox 14"/>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178442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1910" y="1828800"/>
            <a:ext cx="6686550" cy="2043634"/>
          </a:xfrm>
        </p:spPr>
        <p:txBody>
          <a:bodyPr anchor="b">
            <a:normAutofit/>
          </a:bodyPr>
          <a:lstStyle>
            <a:lvl1pPr algn="l">
              <a:defRPr sz="3600" b="0"/>
            </a:lvl1pPr>
          </a:lstStyle>
          <a:p>
            <a:r>
              <a:rPr lang="en-US"/>
              <a:t>Click to edit Master title style</a:t>
            </a:r>
            <a:endParaRPr lang="en-US" dirty="0"/>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46074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137462" y="457200"/>
            <a:ext cx="6295445" cy="2171700"/>
          </a:xfrm>
        </p:spPr>
        <p:txBody>
          <a:bodyPr anchor="ctr">
            <a:normAutofit/>
          </a:bodyPr>
          <a:lstStyle>
            <a:lvl1pPr algn="l">
              <a:defRPr sz="36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pPr/>
              <a:t>‹#›</a:t>
            </a:fld>
            <a:endParaRPr lang="en-US" dirty="0"/>
          </a:p>
        </p:txBody>
      </p:sp>
      <p:sp>
        <p:nvSpPr>
          <p:cNvPr id="17" name="TextBox 16"/>
          <p:cNvSpPr txBox="1"/>
          <p:nvPr/>
        </p:nvSpPr>
        <p:spPr>
          <a:xfrm>
            <a:off x="1850739" y="48600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18" name="TextBox 17"/>
          <p:cNvSpPr txBox="1"/>
          <p:nvPr/>
        </p:nvSpPr>
        <p:spPr>
          <a:xfrm>
            <a:off x="8336139" y="2178980"/>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506390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470555"/>
            <a:ext cx="6686549" cy="2160015"/>
          </a:xfrm>
        </p:spPr>
        <p:txBody>
          <a:bodyPr anchor="ctr">
            <a:normAutofit/>
          </a:bodyPr>
          <a:lstStyle>
            <a:lvl1pPr algn="l">
              <a:defRPr sz="3600" b="0"/>
            </a:lvl1pPr>
          </a:lstStyle>
          <a:p>
            <a:r>
              <a:rPr lang="en-US"/>
              <a:t>Click to edit Master title style</a:t>
            </a:r>
            <a:endParaRPr lang="en-US" dirty="0"/>
          </a:p>
        </p:txBody>
      </p:sp>
      <p:sp>
        <p:nvSpPr>
          <p:cNvPr id="21" name="Text Placeholder 9"/>
          <p:cNvSpPr>
            <a:spLocks noGrp="1"/>
          </p:cNvSpPr>
          <p:nvPr>
            <p:ph type="body" sz="quarter" idx="13"/>
          </p:nvPr>
        </p:nvSpPr>
        <p:spPr>
          <a:xfrm>
            <a:off x="1941909" y="3257550"/>
            <a:ext cx="6686550" cy="628650"/>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1910" y="3886200"/>
            <a:ext cx="6686550" cy="547217"/>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3141" y="3683794"/>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3737316"/>
            <a:ext cx="584825" cy="273844"/>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493857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619485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470554"/>
            <a:ext cx="1655701" cy="3962863"/>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1909" y="470554"/>
            <a:ext cx="4857750" cy="39628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3141" y="535782"/>
            <a:ext cx="1191395" cy="380473"/>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9851711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05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171450"/>
            <a:ext cx="2138637" cy="4978971"/>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0416" y="-589"/>
            <a:ext cx="1767506" cy="514052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468082"/>
            <a:ext cx="6683765" cy="96066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1909" y="1600200"/>
            <a:ext cx="6686550" cy="29146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1210" y="4597828"/>
            <a:ext cx="859712" cy="277797"/>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10/5/2024</a:t>
            </a:fld>
            <a:endParaRPr lang="en-US" dirty="0"/>
          </a:p>
        </p:txBody>
      </p:sp>
      <p:sp>
        <p:nvSpPr>
          <p:cNvPr id="5" name="Footer Placeholder 4"/>
          <p:cNvSpPr>
            <a:spLocks noGrp="1"/>
          </p:cNvSpPr>
          <p:nvPr>
            <p:ph type="ftr" sz="quarter" idx="3"/>
          </p:nvPr>
        </p:nvSpPr>
        <p:spPr>
          <a:xfrm>
            <a:off x="1941910" y="4601856"/>
            <a:ext cx="571499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398860" y="590837"/>
            <a:ext cx="584825" cy="273844"/>
          </a:xfrm>
          <a:prstGeom prst="rect">
            <a:avLst/>
          </a:prstGeom>
        </p:spPr>
        <p:txBody>
          <a:bodyPr vert="horz" lIns="91440" tIns="45720" rIns="91440" bIns="45720" rtlCol="0" anchor="ctr"/>
          <a:lstStyle>
            <a:lvl1pPr algn="r">
              <a:defRPr sz="15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85854711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342900" rtl="0" eaLnBrk="1" latinLnBrk="0" hangingPunct="1">
        <a:spcBef>
          <a:spcPct val="0"/>
        </a:spcBef>
        <a:buNone/>
        <a:defRPr sz="27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jpg"/><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9CBE51-19F4-0B8D-F2C9-BDB5EA1CAE9C}"/>
              </a:ext>
            </a:extLst>
          </p:cNvPr>
          <p:cNvSpPr txBox="1"/>
          <p:nvPr/>
        </p:nvSpPr>
        <p:spPr>
          <a:xfrm>
            <a:off x="2787227" y="588733"/>
            <a:ext cx="4572000" cy="1200329"/>
          </a:xfrm>
          <a:prstGeom prst="rect">
            <a:avLst/>
          </a:prstGeom>
          <a:noFill/>
        </p:spPr>
        <p:txBody>
          <a:bodyPr wrap="square">
            <a:spAutoFit/>
          </a:bodyPr>
          <a:lstStyle/>
          <a:p>
            <a:r>
              <a:rPr lang="en-US" dirty="0"/>
              <a:t>IPS Academy, Indore</a:t>
            </a:r>
          </a:p>
          <a:p>
            <a:r>
              <a:rPr lang="en-US" dirty="0"/>
              <a:t>Institute of Engineering and Science</a:t>
            </a:r>
          </a:p>
          <a:p>
            <a:r>
              <a:rPr lang="en-US" dirty="0"/>
              <a:t>Department of Computer Science (Internet Of Things)</a:t>
            </a:r>
          </a:p>
        </p:txBody>
      </p:sp>
      <p:pic>
        <p:nvPicPr>
          <p:cNvPr id="7" name="Picture 6">
            <a:extLst>
              <a:ext uri="{FF2B5EF4-FFF2-40B4-BE49-F238E27FC236}">
                <a16:creationId xmlns:a16="http://schemas.microsoft.com/office/drawing/2014/main" id="{AAB3A7A8-F70C-858B-2D3C-D63629CF0988}"/>
              </a:ext>
            </a:extLst>
          </p:cNvPr>
          <p:cNvPicPr>
            <a:picLocks noChangeAspect="1"/>
          </p:cNvPicPr>
          <p:nvPr/>
        </p:nvPicPr>
        <p:blipFill>
          <a:blip r:embed="rId2"/>
          <a:stretch>
            <a:fillRect/>
          </a:stretch>
        </p:blipFill>
        <p:spPr>
          <a:xfrm>
            <a:off x="1370018" y="504245"/>
            <a:ext cx="1284817" cy="1284817"/>
          </a:xfrm>
          <a:prstGeom prst="rect">
            <a:avLst/>
          </a:prstGeom>
        </p:spPr>
      </p:pic>
      <p:sp>
        <p:nvSpPr>
          <p:cNvPr id="8" name="Title 7">
            <a:extLst>
              <a:ext uri="{FF2B5EF4-FFF2-40B4-BE49-F238E27FC236}">
                <a16:creationId xmlns:a16="http://schemas.microsoft.com/office/drawing/2014/main" id="{ECAB301C-0A58-C575-95E7-E39DB234454A}"/>
              </a:ext>
            </a:extLst>
          </p:cNvPr>
          <p:cNvSpPr>
            <a:spLocks noGrp="1"/>
          </p:cNvSpPr>
          <p:nvPr>
            <p:ph type="title"/>
          </p:nvPr>
        </p:nvSpPr>
        <p:spPr>
          <a:xfrm>
            <a:off x="4310743" y="3328369"/>
            <a:ext cx="4572000" cy="1617627"/>
          </a:xfrm>
        </p:spPr>
        <p:txBody>
          <a:bodyPr>
            <a:normAutofit/>
          </a:bodyPr>
          <a:lstStyle/>
          <a:p>
            <a:r>
              <a:rPr lang="en-US" sz="1800" b="1" dirty="0"/>
              <a:t>Group Members:</a:t>
            </a:r>
            <a:br>
              <a:rPr lang="en-US" sz="1800" dirty="0"/>
            </a:br>
            <a:r>
              <a:rPr lang="en-US" sz="1800" dirty="0"/>
              <a:t>Vipanshu Kumar Suman(0808IO221044)</a:t>
            </a:r>
            <a:br>
              <a:rPr lang="en-US" sz="1800" dirty="0"/>
            </a:br>
            <a:r>
              <a:rPr lang="en-US" sz="1800" dirty="0" err="1"/>
              <a:t>Divyam</a:t>
            </a:r>
            <a:r>
              <a:rPr lang="en-US" sz="1800" dirty="0"/>
              <a:t> Pathak(0808IO221015)</a:t>
            </a:r>
          </a:p>
        </p:txBody>
      </p:sp>
      <p:sp>
        <p:nvSpPr>
          <p:cNvPr id="3" name="TextBox 2">
            <a:extLst>
              <a:ext uri="{FF2B5EF4-FFF2-40B4-BE49-F238E27FC236}">
                <a16:creationId xmlns:a16="http://schemas.microsoft.com/office/drawing/2014/main" id="{23D6A433-0839-1637-5463-426CA1B9F70D}"/>
              </a:ext>
            </a:extLst>
          </p:cNvPr>
          <p:cNvSpPr txBox="1"/>
          <p:nvPr/>
        </p:nvSpPr>
        <p:spPr>
          <a:xfrm>
            <a:off x="956017" y="3328369"/>
            <a:ext cx="2646404" cy="646331"/>
          </a:xfrm>
          <a:prstGeom prst="rect">
            <a:avLst/>
          </a:prstGeom>
          <a:noFill/>
        </p:spPr>
        <p:txBody>
          <a:bodyPr wrap="square" rtlCol="0">
            <a:spAutoFit/>
          </a:bodyPr>
          <a:lstStyle/>
          <a:p>
            <a:r>
              <a:rPr lang="en-US" b="1" dirty="0"/>
              <a:t>Guided By:</a:t>
            </a:r>
          </a:p>
          <a:p>
            <a:r>
              <a:rPr lang="en-US" dirty="0"/>
              <a:t>Miss. Nisha </a:t>
            </a:r>
            <a:r>
              <a:rPr lang="en-US" dirty="0" err="1"/>
              <a:t>Bhalse</a:t>
            </a:r>
            <a:endParaRPr lang="en-US" dirty="0"/>
          </a:p>
        </p:txBody>
      </p:sp>
    </p:spTree>
    <p:extLst>
      <p:ext uri="{BB962C8B-B14F-4D97-AF65-F5344CB8AC3E}">
        <p14:creationId xmlns:p14="http://schemas.microsoft.com/office/powerpoint/2010/main" val="1182697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djgurnpwsdoqjscwqbsj.supabase.co/storage/v1/object/public/presentation-templates-data/section1_firstbckgr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rot="10800000" flipV="1">
            <a:off x="1188720" y="1490800"/>
            <a:ext cx="6766560" cy="411477"/>
          </a:xfrm>
          <a:prstGeom prst="rect">
            <a:avLst/>
          </a:prstGeom>
          <a:noFill/>
          <a:ln/>
        </p:spPr>
        <p:txBody>
          <a:bodyPr wrap="square" rtlCol="0" anchor="b"/>
          <a:lstStyle>
            <a:lvl1pPr algn="l"/>
          </a:lstStyle>
          <a:p>
            <a:pPr marL="0" indent="0" algn="ctr">
              <a:buNone/>
            </a:pPr>
            <a:r>
              <a:rPr lang="en-IN" sz="2800" dirty="0">
                <a:effectLst/>
                <a:latin typeface="Times New Roman" panose="02020603050405020304" pitchFamily="18" charset="0"/>
                <a:ea typeface="Calibri" panose="020F0502020204030204" pitchFamily="34" charset="0"/>
              </a:rPr>
              <a:t>IMDB Movie Review Sentiment Analysis Using Machine Learning</a:t>
            </a:r>
            <a:endParaRPr lang="en-US" sz="2800" b="1" dirty="0">
              <a:solidFill>
                <a:srgbClr val="000000"/>
              </a:solidFill>
              <a:latin typeface="Plus Jakarta Sans" pitchFamily="34" charset="0"/>
              <a:ea typeface="Plus Jakarta Sans" pitchFamily="34" charset="-122"/>
              <a:cs typeface="Plus Jakarta Sans" pitchFamily="34" charset="-120"/>
            </a:endParaRPr>
          </a:p>
        </p:txBody>
      </p:sp>
      <p:sp>
        <p:nvSpPr>
          <p:cNvPr id="4" name="Text 1"/>
          <p:cNvSpPr/>
          <p:nvPr/>
        </p:nvSpPr>
        <p:spPr>
          <a:xfrm>
            <a:off x="2286000" y="2931795"/>
            <a:ext cx="4114800" cy="0"/>
          </a:xfrm>
          <a:prstGeom prst="rect">
            <a:avLst/>
          </a:prstGeom>
          <a:noFill/>
          <a:ln/>
        </p:spPr>
        <p:txBody>
          <a:bodyPr wrap="square" rtlCol="0" anchor="ctr"/>
          <a:lstStyle/>
          <a:p>
            <a:pPr marL="0" indent="0" algn="ctr">
              <a:buNone/>
            </a:pPr>
            <a:r>
              <a:rPr lang="en-US" sz="1200" dirty="0"/>
              <a:t>Analyzing large dataset of movie reviews on IMDB to obtain positive and negative reviews</a:t>
            </a:r>
          </a:p>
        </p:txBody>
      </p:sp>
      <p:sp>
        <p:nvSpPr>
          <p:cNvPr id="5" name="Text 2"/>
          <p:cNvSpPr/>
          <p:nvPr/>
        </p:nvSpPr>
        <p:spPr>
          <a:xfrm>
            <a:off x="1188720" y="3137535"/>
            <a:ext cx="457200" cy="0"/>
          </a:xfrm>
          <a:prstGeom prst="rect">
            <a:avLst/>
          </a:prstGeom>
          <a:noFill/>
          <a:ln/>
        </p:spPr>
        <p:txBody>
          <a:bodyPr wrap="square" rtlCol="0" anchor="ctr"/>
          <a:lstStyle>
            <a:lvl1pPr algn="l"/>
          </a:lstStyle>
          <a:p>
            <a:pPr marL="0" indent="0" algn="ctr">
              <a:buNone/>
            </a:pPr>
            <a:r>
              <a:rPr lang="en-US" sz="1800" dirty="0">
                <a:solidFill>
                  <a:srgbClr val="000000"/>
                </a:solidFill>
                <a:latin typeface="Bell MT" pitchFamily="34" charset="0"/>
                <a:ea typeface="Bell MT" pitchFamily="34" charset="-122"/>
                <a:cs typeface="Bell MT" pitchFamily="34" charset="-120"/>
              </a:rPr>
              <a:t>+</a:t>
            </a:r>
            <a:endParaRPr lang="en-US" sz="1800" dirty="0"/>
          </a:p>
        </p:txBody>
      </p:sp>
      <p:sp>
        <p:nvSpPr>
          <p:cNvPr id="6" name="Text 3"/>
          <p:cNvSpPr/>
          <p:nvPr/>
        </p:nvSpPr>
        <p:spPr>
          <a:xfrm>
            <a:off x="1371600" y="3137535"/>
            <a:ext cx="457200" cy="0"/>
          </a:xfrm>
          <a:prstGeom prst="rect">
            <a:avLst/>
          </a:prstGeom>
          <a:noFill/>
          <a:ln/>
        </p:spPr>
        <p:txBody>
          <a:bodyPr wrap="square" rtlCol="0" anchor="ctr"/>
          <a:lstStyle>
            <a:lvl1pPr algn="l"/>
          </a:lstStyle>
          <a:p>
            <a:pPr marL="0" indent="0" algn="ctr">
              <a:buNone/>
            </a:pPr>
            <a:r>
              <a:rPr lang="en-US" sz="1800" dirty="0">
                <a:solidFill>
                  <a:srgbClr val="000000"/>
                </a:solidFill>
                <a:latin typeface="Bell MT" pitchFamily="34" charset="0"/>
                <a:ea typeface="Bell MT" pitchFamily="34" charset="-122"/>
                <a:cs typeface="Bell MT" pitchFamily="34" charset="-120"/>
              </a:rPr>
              <a:t>+</a:t>
            </a:r>
            <a:endParaRPr lang="en-US" sz="1800" dirty="0"/>
          </a:p>
        </p:txBody>
      </p:sp>
      <p:sp>
        <p:nvSpPr>
          <p:cNvPr id="7" name="Text 4"/>
          <p:cNvSpPr/>
          <p:nvPr/>
        </p:nvSpPr>
        <p:spPr>
          <a:xfrm>
            <a:off x="1554480" y="3137535"/>
            <a:ext cx="457200" cy="0"/>
          </a:xfrm>
          <a:prstGeom prst="rect">
            <a:avLst/>
          </a:prstGeom>
          <a:noFill/>
          <a:ln/>
        </p:spPr>
        <p:txBody>
          <a:bodyPr wrap="square" rtlCol="0" anchor="ctr"/>
          <a:lstStyle>
            <a:lvl1pPr algn="l"/>
          </a:lstStyle>
          <a:p>
            <a:pPr marL="0" indent="0" algn="ctr">
              <a:buNone/>
            </a:pPr>
            <a:r>
              <a:rPr lang="en-US" sz="1800" dirty="0">
                <a:solidFill>
                  <a:srgbClr val="000000"/>
                </a:solidFill>
                <a:latin typeface="Bell MT" pitchFamily="34" charset="0"/>
                <a:ea typeface="Bell MT" pitchFamily="34" charset="-122"/>
                <a:cs typeface="Bell MT" pitchFamily="34" charset="-120"/>
              </a:rPr>
              <a:t>+</a:t>
            </a:r>
            <a:endParaRPr lang="en-US" sz="1800" dirty="0"/>
          </a:p>
        </p:txBody>
      </p:sp>
      <p:sp>
        <p:nvSpPr>
          <p:cNvPr id="8" name="Text 5"/>
          <p:cNvSpPr/>
          <p:nvPr/>
        </p:nvSpPr>
        <p:spPr>
          <a:xfrm>
            <a:off x="7132320" y="2726055"/>
            <a:ext cx="457200" cy="0"/>
          </a:xfrm>
          <a:prstGeom prst="rect">
            <a:avLst/>
          </a:prstGeom>
          <a:noFill/>
          <a:ln/>
        </p:spPr>
        <p:txBody>
          <a:bodyPr wrap="square" rtlCol="0" anchor="ctr"/>
          <a:lstStyle>
            <a:lvl1pPr algn="l"/>
          </a:lstStyle>
          <a:p>
            <a:pPr marL="0" indent="0" algn="ctr">
              <a:buNone/>
            </a:pPr>
            <a:r>
              <a:rPr lang="en-US" sz="1800" dirty="0">
                <a:solidFill>
                  <a:srgbClr val="000000"/>
                </a:solidFill>
                <a:latin typeface="Bell MT" pitchFamily="34" charset="0"/>
                <a:ea typeface="Bell MT" pitchFamily="34" charset="-122"/>
                <a:cs typeface="Bell MT" pitchFamily="34" charset="-120"/>
              </a:rPr>
              <a:t>+</a:t>
            </a:r>
            <a:endParaRPr lang="en-US" sz="1800" dirty="0"/>
          </a:p>
        </p:txBody>
      </p:sp>
      <p:sp>
        <p:nvSpPr>
          <p:cNvPr id="9" name="Text 6"/>
          <p:cNvSpPr/>
          <p:nvPr/>
        </p:nvSpPr>
        <p:spPr>
          <a:xfrm>
            <a:off x="7315200" y="2726055"/>
            <a:ext cx="457200" cy="0"/>
          </a:xfrm>
          <a:prstGeom prst="rect">
            <a:avLst/>
          </a:prstGeom>
          <a:noFill/>
          <a:ln/>
        </p:spPr>
        <p:txBody>
          <a:bodyPr wrap="square" rtlCol="0" anchor="ctr"/>
          <a:lstStyle>
            <a:lvl1pPr algn="l"/>
          </a:lstStyle>
          <a:p>
            <a:pPr marL="0" indent="0" algn="ctr">
              <a:buNone/>
            </a:pPr>
            <a:r>
              <a:rPr lang="en-US" sz="1800" dirty="0">
                <a:solidFill>
                  <a:srgbClr val="000000"/>
                </a:solidFill>
                <a:latin typeface="Bell MT" pitchFamily="34" charset="0"/>
                <a:ea typeface="Bell MT" pitchFamily="34" charset="-122"/>
                <a:cs typeface="Bell MT" pitchFamily="34" charset="-120"/>
              </a:rPr>
              <a:t>+</a:t>
            </a:r>
            <a:endParaRPr lang="en-US" sz="1800" dirty="0"/>
          </a:p>
        </p:txBody>
      </p:sp>
      <p:sp>
        <p:nvSpPr>
          <p:cNvPr id="10" name="Text 7"/>
          <p:cNvSpPr/>
          <p:nvPr/>
        </p:nvSpPr>
        <p:spPr>
          <a:xfrm>
            <a:off x="7498080" y="2726055"/>
            <a:ext cx="457200" cy="0"/>
          </a:xfrm>
          <a:prstGeom prst="rect">
            <a:avLst/>
          </a:prstGeom>
          <a:noFill/>
          <a:ln/>
        </p:spPr>
        <p:txBody>
          <a:bodyPr wrap="square" rtlCol="0" anchor="ctr"/>
          <a:lstStyle>
            <a:lvl1pPr algn="l"/>
          </a:lstStyle>
          <a:p>
            <a:pPr marL="0" indent="0" algn="ctr">
              <a:buNone/>
            </a:pPr>
            <a:r>
              <a:rPr lang="en-US" sz="1800" dirty="0">
                <a:solidFill>
                  <a:srgbClr val="000000"/>
                </a:solidFill>
                <a:latin typeface="Bell MT" pitchFamily="34" charset="0"/>
                <a:ea typeface="Bell MT" pitchFamily="34" charset="-122"/>
                <a:cs typeface="Bell MT" pitchFamily="34" charset="-120"/>
              </a:rPr>
              <a:t>+</a:t>
            </a:r>
            <a:endParaRPr lang="en-US" sz="1800" dirty="0"/>
          </a:p>
        </p:txBody>
      </p:sp>
      <p:sp>
        <p:nvSpPr>
          <p:cNvPr id="11" name="Shape 8"/>
          <p:cNvSpPr/>
          <p:nvPr/>
        </p:nvSpPr>
        <p:spPr>
          <a:xfrm>
            <a:off x="1188720" y="2571750"/>
            <a:ext cx="6766560" cy="0"/>
          </a:xfrm>
          <a:prstGeom prst="ellipse">
            <a:avLst/>
          </a:prstGeom>
          <a:noFill/>
          <a:ln w="12700">
            <a:solidFill>
              <a:srgbClr val="000000"/>
            </a:solidFill>
            <a:prstDash val="solid"/>
          </a:ln>
        </p:spPr>
        <p:txBody>
          <a:bodyPr/>
          <a:lstStyle/>
          <a:p>
            <a:endParaRPr lang="en-US"/>
          </a:p>
        </p:txBody>
      </p:sp>
      <p:sp>
        <p:nvSpPr>
          <p:cNvPr id="12" name="Shape 9"/>
          <p:cNvSpPr/>
          <p:nvPr/>
        </p:nvSpPr>
        <p:spPr>
          <a:xfrm>
            <a:off x="1188720" y="3343275"/>
            <a:ext cx="6766560" cy="0"/>
          </a:xfrm>
          <a:prstGeom prst="ellipse">
            <a:avLst/>
          </a:prstGeom>
          <a:noFill/>
          <a:ln w="12700">
            <a:solidFill>
              <a:srgbClr val="000000"/>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131570"/>
            <a:ext cx="6400800" cy="228600"/>
          </a:xfrm>
          <a:prstGeom prst="rect">
            <a:avLst/>
          </a:prstGeom>
          <a:noFill/>
          <a:ln/>
        </p:spPr>
        <p:txBody>
          <a:bodyPr wrap="square" rtlCol="0" anchor="b"/>
          <a:lstStyle/>
          <a:p>
            <a:pPr marL="0" indent="0" algn="l">
              <a:buNone/>
            </a:pPr>
            <a:r>
              <a:rPr lang="en-US" sz="3000" b="1" dirty="0">
                <a:solidFill>
                  <a:srgbClr val="000000"/>
                </a:solidFill>
                <a:latin typeface="Plus Jakarta Sans" pitchFamily="34" charset="0"/>
                <a:ea typeface="Plus Jakarta Sans" pitchFamily="34" charset="-122"/>
              </a:rPr>
              <a:t>Introduction</a:t>
            </a:r>
            <a:endParaRPr lang="en-US" sz="3000" dirty="0"/>
          </a:p>
        </p:txBody>
      </p:sp>
      <p:sp>
        <p:nvSpPr>
          <p:cNvPr id="3" name="Text 1"/>
          <p:cNvSpPr/>
          <p:nvPr/>
        </p:nvSpPr>
        <p:spPr>
          <a:xfrm>
            <a:off x="914400" y="1440180"/>
            <a:ext cx="7315200" cy="2988130"/>
          </a:xfrm>
          <a:prstGeom prst="rect">
            <a:avLst/>
          </a:prstGeom>
          <a:noFill/>
          <a:ln/>
        </p:spPr>
        <p:txBody>
          <a:bodyPr wrap="square" rtlCol="0" anchor="t"/>
          <a:lstStyle/>
          <a:p>
            <a:r>
              <a:rPr lang="en-US" sz="1000" dirty="0"/>
              <a:t>With the rapid growth of user-generated content, especially in the form of online reviews, sentiment analysis has emerged as a critical tool to extract actionable insights from large volumes of text data. One such prominent platform is IMDB, where users post millions of movie reviews, reflecting their sentiments toward different films.</a:t>
            </a:r>
          </a:p>
          <a:p>
            <a:endParaRPr lang="en-US" sz="1000" dirty="0"/>
          </a:p>
          <a:p>
            <a:r>
              <a:rPr lang="en-US" sz="1000" dirty="0"/>
              <a:t>This project focuses on applying </a:t>
            </a:r>
            <a:r>
              <a:rPr lang="en-US" sz="1000" b="1" dirty="0"/>
              <a:t>machine learning techniques</a:t>
            </a:r>
            <a:r>
              <a:rPr lang="en-US" sz="1000" dirty="0"/>
              <a:t> to analyze the sentiment of movie reviews on IMDB. Sentiment analysis helps in determining whether a movie review expresses a </a:t>
            </a:r>
            <a:r>
              <a:rPr lang="en-US" sz="1000" b="1" dirty="0"/>
              <a:t>positive</a:t>
            </a:r>
            <a:r>
              <a:rPr lang="en-US" sz="1000" dirty="0"/>
              <a:t> or </a:t>
            </a:r>
            <a:r>
              <a:rPr lang="en-US" sz="1000" b="1" dirty="0"/>
              <a:t>negative</a:t>
            </a:r>
            <a:r>
              <a:rPr lang="en-US" sz="1000" dirty="0"/>
              <a:t> opinion. By training machine learning models on IMDB's vast dataset, we can automatically classify the sentiment of reviews with high accuracy.</a:t>
            </a:r>
          </a:p>
          <a:p>
            <a:endParaRPr lang="en-US" sz="1000" dirty="0"/>
          </a:p>
          <a:p>
            <a:r>
              <a:rPr lang="en-US" sz="1000" dirty="0"/>
              <a:t>Our approach uses natural language processing (NLP) techniques to preprocess the text data, followed by training models such as </a:t>
            </a:r>
            <a:r>
              <a:rPr lang="en-US" sz="1000" b="1" dirty="0"/>
              <a:t>Naive Bayes</a:t>
            </a:r>
            <a:r>
              <a:rPr lang="en-US" sz="1000" dirty="0"/>
              <a:t>, </a:t>
            </a:r>
            <a:r>
              <a:rPr lang="en-US" sz="1000" b="1" dirty="0"/>
              <a:t>Support Vector Machines (SVM)</a:t>
            </a:r>
            <a:r>
              <a:rPr lang="en-US" sz="1000" dirty="0"/>
              <a:t>, or </a:t>
            </a:r>
            <a:r>
              <a:rPr lang="en-US" sz="1000" b="1" dirty="0"/>
              <a:t>deep learning</a:t>
            </a:r>
            <a:r>
              <a:rPr lang="en-US" sz="1000" dirty="0"/>
              <a:t> models. These models help in identifying patterns in how people express their sentiments in movie reviews.</a:t>
            </a:r>
          </a:p>
          <a:p>
            <a:endParaRPr lang="en-US" sz="1000" dirty="0"/>
          </a:p>
          <a:p>
            <a:r>
              <a:rPr lang="en-US" sz="1000" dirty="0"/>
              <a:t>The goal of this project is to create a model capable of analyzing movie reviews and providing valuable insights into public opinion, which can be useful for movie recommendations, marketing strategies, and understanding audience preferences.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12426" y="1017270"/>
            <a:ext cx="6400800" cy="228600"/>
          </a:xfrm>
          <a:prstGeom prst="rect">
            <a:avLst/>
          </a:prstGeom>
          <a:noFill/>
          <a:ln/>
        </p:spPr>
        <p:txBody>
          <a:bodyPr wrap="square" rtlCol="0" anchor="b"/>
          <a:lstStyle/>
          <a:p>
            <a:pPr marL="0" indent="0" algn="l">
              <a:buNone/>
            </a:pPr>
            <a:r>
              <a:rPr lang="en-US" sz="2400" b="1" dirty="0"/>
              <a:t>Existing Solutions and Their Limitations:</a:t>
            </a:r>
          </a:p>
        </p:txBody>
      </p:sp>
      <p:sp>
        <p:nvSpPr>
          <p:cNvPr id="3" name="Text 1"/>
          <p:cNvSpPr/>
          <p:nvPr/>
        </p:nvSpPr>
        <p:spPr>
          <a:xfrm>
            <a:off x="914400" y="1467273"/>
            <a:ext cx="7315200" cy="2743200"/>
          </a:xfrm>
          <a:prstGeom prst="rect">
            <a:avLst/>
          </a:prstGeom>
          <a:noFill/>
          <a:ln/>
        </p:spPr>
        <p:txBody>
          <a:bodyPr wrap="square" rtlCol="0" anchor="t"/>
          <a:lstStyle/>
          <a:p>
            <a:pPr>
              <a:buFont typeface="Arial" panose="020B0604020202020204" pitchFamily="34" charset="0"/>
              <a:buChar char="•"/>
            </a:pPr>
            <a:endParaRPr lang="en-US" sz="1200" dirty="0"/>
          </a:p>
        </p:txBody>
      </p:sp>
      <p:sp>
        <p:nvSpPr>
          <p:cNvPr id="6" name="TextBox 5">
            <a:extLst>
              <a:ext uri="{FF2B5EF4-FFF2-40B4-BE49-F238E27FC236}">
                <a16:creationId xmlns:a16="http://schemas.microsoft.com/office/drawing/2014/main" id="{DEAED852-7BD8-A0CD-EF7E-971BFBB01C6C}"/>
              </a:ext>
            </a:extLst>
          </p:cNvPr>
          <p:cNvSpPr txBox="1"/>
          <p:nvPr/>
        </p:nvSpPr>
        <p:spPr>
          <a:xfrm>
            <a:off x="587830" y="1421299"/>
            <a:ext cx="7641770" cy="2677656"/>
          </a:xfrm>
          <a:prstGeom prst="rect">
            <a:avLst/>
          </a:prstGeom>
          <a:noFill/>
        </p:spPr>
        <p:txBody>
          <a:bodyPr wrap="square">
            <a:spAutoFit/>
          </a:bodyPr>
          <a:lstStyle/>
          <a:p>
            <a:r>
              <a:rPr lang="en-US" sz="1200" b="1" dirty="0"/>
              <a:t>Bag of Words (</a:t>
            </a:r>
            <a:r>
              <a:rPr lang="en-US" sz="1200" b="1" dirty="0" err="1"/>
              <a:t>BoW</a:t>
            </a:r>
            <a:r>
              <a:rPr lang="en-US" sz="1200" b="1" dirty="0"/>
              <a:t>) and TF-IDF</a:t>
            </a:r>
            <a:r>
              <a:rPr lang="en-US" sz="1200" dirty="0"/>
              <a:t>: These traditional methods convert text into numerical features but often fail to capture context or word order, leading to limited understanding of complex sentences.</a:t>
            </a:r>
          </a:p>
          <a:p>
            <a:endParaRPr lang="en-US" sz="1200" dirty="0"/>
          </a:p>
          <a:p>
            <a:r>
              <a:rPr lang="en-US" sz="1200" b="1" dirty="0"/>
              <a:t>Naive Bayes Classifier</a:t>
            </a:r>
            <a:r>
              <a:rPr lang="en-US" sz="1200" dirty="0"/>
              <a:t>: Simple and fast for text classification, but it assumes word independence, which oversimplifies language structure and context.</a:t>
            </a:r>
          </a:p>
          <a:p>
            <a:endParaRPr lang="en-US" sz="1200" dirty="0"/>
          </a:p>
          <a:p>
            <a:r>
              <a:rPr lang="en-US" sz="1200" b="1" dirty="0"/>
              <a:t>Support Vector Machines (SVM)</a:t>
            </a:r>
            <a:r>
              <a:rPr lang="en-US" sz="1200" dirty="0"/>
              <a:t>: Effective for binary classification, but it struggles with large datasets and is less efficient at capturing nuanced sentiment in long reviews.</a:t>
            </a:r>
          </a:p>
          <a:p>
            <a:endParaRPr lang="en-US" sz="1200" dirty="0"/>
          </a:p>
          <a:p>
            <a:r>
              <a:rPr lang="en-US" sz="1200" b="1" dirty="0"/>
              <a:t>Deep Learning Models (RNN, LSTM)</a:t>
            </a:r>
            <a:r>
              <a:rPr lang="en-US" sz="1200" dirty="0"/>
              <a:t>: These models capture sequential patterns in text but require large datasets and high computational power, making them harder to train and optimize.</a:t>
            </a:r>
          </a:p>
          <a:p>
            <a:endParaRPr lang="en-US" sz="1200" dirty="0"/>
          </a:p>
          <a:p>
            <a:r>
              <a:rPr lang="en-US" sz="1200" b="1" dirty="0"/>
              <a:t>Pretrained Transformers (BERT)</a:t>
            </a:r>
            <a:r>
              <a:rPr lang="en-US" sz="1200" dirty="0"/>
              <a:t>: State-of-the-art for text understanding but resource-intensive and prone to overfitting on small datasets without fine-tuning.</a:t>
            </a:r>
          </a:p>
        </p:txBody>
      </p:sp>
    </p:spTree>
    <p:extLst>
      <p:ext uri="{BB962C8B-B14F-4D97-AF65-F5344CB8AC3E}">
        <p14:creationId xmlns:p14="http://schemas.microsoft.com/office/powerpoint/2010/main" val="4007488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64684"/>
            <a:ext cx="6400800" cy="228600"/>
          </a:xfrm>
          <a:prstGeom prst="rect">
            <a:avLst/>
          </a:prstGeom>
          <a:noFill/>
          <a:ln/>
        </p:spPr>
        <p:txBody>
          <a:bodyPr wrap="square" rtlCol="0" anchor="b"/>
          <a:lstStyle/>
          <a:p>
            <a:pPr marL="0" indent="0" algn="l">
              <a:buNone/>
            </a:pPr>
            <a:r>
              <a:rPr lang="en-US" sz="2400" b="1" dirty="0"/>
              <a:t>Functional Requirements:</a:t>
            </a:r>
          </a:p>
        </p:txBody>
      </p:sp>
      <p:sp>
        <p:nvSpPr>
          <p:cNvPr id="3" name="Text 1"/>
          <p:cNvSpPr/>
          <p:nvPr/>
        </p:nvSpPr>
        <p:spPr>
          <a:xfrm>
            <a:off x="914400" y="1467273"/>
            <a:ext cx="7315200" cy="2743200"/>
          </a:xfrm>
          <a:prstGeom prst="rect">
            <a:avLst/>
          </a:prstGeom>
          <a:noFill/>
          <a:ln/>
        </p:spPr>
        <p:txBody>
          <a:bodyPr wrap="square" rtlCol="0" anchor="t"/>
          <a:lstStyle/>
          <a:p>
            <a:pPr>
              <a:buFont typeface="+mj-lt"/>
              <a:buAutoNum type="arabicPeriod"/>
            </a:pPr>
            <a:r>
              <a:rPr lang="en-US" sz="1200" b="1" dirty="0"/>
              <a:t>Data Collection: </a:t>
            </a:r>
            <a:r>
              <a:rPr lang="en-US" sz="1200" dirty="0"/>
              <a:t>The system must gather and preprocess movie reviews from the IMDB dataset, including tokenization and stop word removal.</a:t>
            </a:r>
          </a:p>
          <a:p>
            <a:pPr>
              <a:buFont typeface="+mj-lt"/>
              <a:buAutoNum type="arabicPeriod"/>
            </a:pPr>
            <a:endParaRPr lang="en-US" sz="1200" dirty="0"/>
          </a:p>
          <a:p>
            <a:pPr>
              <a:buFont typeface="+mj-lt"/>
              <a:buAutoNum type="arabicPeriod"/>
            </a:pPr>
            <a:r>
              <a:rPr lang="en-US" sz="1200" b="1" dirty="0"/>
              <a:t>Model Training</a:t>
            </a:r>
            <a:r>
              <a:rPr lang="en-US" sz="1200" dirty="0"/>
              <a:t>: Train machine learning models to classify sentiment, using metrics like accuracy and F1 score for evaluation</a:t>
            </a:r>
            <a:r>
              <a:rPr lang="en-US" sz="1200" b="1" dirty="0"/>
              <a:t>.</a:t>
            </a:r>
          </a:p>
          <a:p>
            <a:pPr>
              <a:buFont typeface="+mj-lt"/>
              <a:buAutoNum type="arabicPeriod"/>
            </a:pPr>
            <a:endParaRPr lang="en-US" sz="1200" b="1" dirty="0"/>
          </a:p>
          <a:p>
            <a:pPr>
              <a:buFont typeface="+mj-lt"/>
              <a:buAutoNum type="arabicPeriod"/>
            </a:pPr>
            <a:r>
              <a:rPr lang="en-US" sz="1200" b="1" dirty="0"/>
              <a:t>Sentiment Prediction</a:t>
            </a:r>
            <a:r>
              <a:rPr lang="en-US" sz="1200" dirty="0"/>
              <a:t>: The system should predict the sentiment of new reviews in real-time, classifying them as positive or negative</a:t>
            </a:r>
            <a:r>
              <a:rPr lang="en-US" sz="1200" b="1" dirty="0"/>
              <a:t>.</a:t>
            </a:r>
          </a:p>
          <a:p>
            <a:pPr>
              <a:buFont typeface="+mj-lt"/>
              <a:buAutoNum type="arabicPeriod"/>
            </a:pPr>
            <a:endParaRPr lang="en-US" sz="1200" b="1" dirty="0"/>
          </a:p>
          <a:p>
            <a:pPr>
              <a:buFont typeface="+mj-lt"/>
              <a:buAutoNum type="arabicPeriod"/>
            </a:pPr>
            <a:r>
              <a:rPr lang="en-US" sz="1200" b="1" dirty="0"/>
              <a:t>User Interface: </a:t>
            </a:r>
            <a:r>
              <a:rPr lang="en-US" sz="1200" dirty="0"/>
              <a:t>A user-friendly web interface should allow users to input reviews and view the predicted sentiment instantly</a:t>
            </a:r>
            <a:r>
              <a:rPr lang="en-US" sz="1200" b="1" dirty="0"/>
              <a:t>.</a:t>
            </a:r>
          </a:p>
          <a:p>
            <a:pPr>
              <a:buFont typeface="+mj-lt"/>
              <a:buAutoNum type="arabicPeriod"/>
            </a:pPr>
            <a:endParaRPr lang="en-US" sz="1200" b="1" dirty="0"/>
          </a:p>
          <a:p>
            <a:pPr>
              <a:buFont typeface="+mj-lt"/>
              <a:buAutoNum type="arabicPeriod"/>
            </a:pPr>
            <a:r>
              <a:rPr lang="en-US" sz="1200" b="1" dirty="0"/>
              <a:t>Performance: </a:t>
            </a:r>
            <a:r>
              <a:rPr lang="en-US" sz="1200" dirty="0"/>
              <a:t>The system should ensure fast predictions (within 2-3 seconds) and be scalable to handle multiple users and large datasets efficiently</a:t>
            </a:r>
            <a:r>
              <a:rPr lang="en-US" sz="1200" b="1" dirty="0"/>
              <a:t>.</a:t>
            </a:r>
            <a:endParaRPr lang="en-US" sz="1200" dirty="0"/>
          </a:p>
        </p:txBody>
      </p:sp>
    </p:spTree>
    <p:extLst>
      <p:ext uri="{BB962C8B-B14F-4D97-AF65-F5344CB8AC3E}">
        <p14:creationId xmlns:p14="http://schemas.microsoft.com/office/powerpoint/2010/main" val="2648011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64684"/>
            <a:ext cx="6400800" cy="228600"/>
          </a:xfrm>
          <a:prstGeom prst="rect">
            <a:avLst/>
          </a:prstGeom>
          <a:noFill/>
          <a:ln/>
        </p:spPr>
        <p:txBody>
          <a:bodyPr wrap="square" rtlCol="0" anchor="b"/>
          <a:lstStyle/>
          <a:p>
            <a:pPr marL="0" indent="0" algn="l">
              <a:buNone/>
            </a:pPr>
            <a:r>
              <a:rPr lang="en-US" sz="2400" b="1" dirty="0"/>
              <a:t>Non Functional Requirements:</a:t>
            </a:r>
          </a:p>
        </p:txBody>
      </p:sp>
      <p:sp>
        <p:nvSpPr>
          <p:cNvPr id="3" name="Text 1"/>
          <p:cNvSpPr/>
          <p:nvPr/>
        </p:nvSpPr>
        <p:spPr>
          <a:xfrm>
            <a:off x="914400" y="1467273"/>
            <a:ext cx="7315200" cy="2743200"/>
          </a:xfrm>
          <a:prstGeom prst="rect">
            <a:avLst/>
          </a:prstGeom>
          <a:noFill/>
          <a:ln/>
        </p:spPr>
        <p:txBody>
          <a:bodyPr wrap="square" rtlCol="0" anchor="t"/>
          <a:lstStyle/>
          <a:p>
            <a:r>
              <a:rPr lang="en-US" sz="1200" b="1" dirty="0"/>
              <a:t>Performance: </a:t>
            </a:r>
            <a:r>
              <a:rPr lang="en-US" sz="1200" dirty="0"/>
              <a:t>The system should provide sentiment predictions within 2-3 seconds per review to ensure a responsive user experience</a:t>
            </a:r>
            <a:r>
              <a:rPr lang="en-US" sz="1200" b="1" dirty="0"/>
              <a:t>.</a:t>
            </a:r>
          </a:p>
          <a:p>
            <a:endParaRPr lang="en-US" sz="1200" b="1" dirty="0"/>
          </a:p>
          <a:p>
            <a:r>
              <a:rPr lang="en-US" sz="1200" b="1" dirty="0"/>
              <a:t>Scalability: </a:t>
            </a:r>
            <a:r>
              <a:rPr lang="en-US" sz="1200" dirty="0"/>
              <a:t>It must efficiently handle increasing data volumes and user requests without performance degradation during peak usage</a:t>
            </a:r>
            <a:r>
              <a:rPr lang="en-US" sz="1200" b="1" dirty="0"/>
              <a:t>.</a:t>
            </a:r>
          </a:p>
          <a:p>
            <a:endParaRPr lang="en-US" sz="1200" b="1" dirty="0"/>
          </a:p>
          <a:p>
            <a:r>
              <a:rPr lang="en-US" sz="1200" b="1" dirty="0"/>
              <a:t>Reliability: </a:t>
            </a:r>
            <a:r>
              <a:rPr lang="en-US" sz="1200" dirty="0"/>
              <a:t>The system should maintain 99.9% uptime to guarantee continuous access to the sentiment analysis service</a:t>
            </a:r>
            <a:r>
              <a:rPr lang="en-US" sz="1200" b="1" dirty="0"/>
              <a:t>.</a:t>
            </a:r>
          </a:p>
          <a:p>
            <a:endParaRPr lang="en-US" sz="1200" b="1" dirty="0"/>
          </a:p>
          <a:p>
            <a:r>
              <a:rPr lang="en-US" sz="1200" b="1" dirty="0"/>
              <a:t>Usability: </a:t>
            </a:r>
            <a:r>
              <a:rPr lang="en-US" sz="1200" dirty="0"/>
              <a:t>The user interface must be intuitive, allowing users to easily input reviews and receive predictions without confusion</a:t>
            </a:r>
            <a:r>
              <a:rPr lang="en-US" sz="1200" b="1" dirty="0"/>
              <a:t>.</a:t>
            </a:r>
          </a:p>
          <a:p>
            <a:endParaRPr lang="en-US" sz="1200" b="1" dirty="0"/>
          </a:p>
          <a:p>
            <a:r>
              <a:rPr lang="en-US" sz="1200" b="1" dirty="0"/>
              <a:t>Security: </a:t>
            </a:r>
            <a:r>
              <a:rPr lang="en-US" sz="1200" dirty="0"/>
              <a:t>The system must protect user data and prevent unauthorized access, especially when processing personal reviews</a:t>
            </a:r>
            <a:r>
              <a:rPr lang="en-US" sz="1200" b="1" dirty="0"/>
              <a:t>.</a:t>
            </a:r>
          </a:p>
          <a:p>
            <a:endParaRPr lang="en-US" sz="1200" b="1" dirty="0"/>
          </a:p>
          <a:p>
            <a:r>
              <a:rPr lang="en-US" sz="1200" b="1" dirty="0"/>
              <a:t>Maintainability: </a:t>
            </a:r>
            <a:r>
              <a:rPr lang="en-US" sz="1200" dirty="0"/>
              <a:t>The architecture should be modular, allowing for easy updates and modifications as new machine learning techniques are developed</a:t>
            </a:r>
            <a:r>
              <a:rPr lang="en-US" sz="1200" b="1" dirty="0"/>
              <a:t>.</a:t>
            </a:r>
            <a:endParaRPr lang="en-US" sz="1200" dirty="0"/>
          </a:p>
        </p:txBody>
      </p:sp>
    </p:spTree>
    <p:extLst>
      <p:ext uri="{BB962C8B-B14F-4D97-AF65-F5344CB8AC3E}">
        <p14:creationId xmlns:p14="http://schemas.microsoft.com/office/powerpoint/2010/main" val="313626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64684"/>
            <a:ext cx="6400800" cy="228600"/>
          </a:xfrm>
          <a:prstGeom prst="rect">
            <a:avLst/>
          </a:prstGeom>
          <a:noFill/>
          <a:ln/>
        </p:spPr>
        <p:txBody>
          <a:bodyPr wrap="square" rtlCol="0" anchor="b"/>
          <a:lstStyle/>
          <a:p>
            <a:pPr marL="0" indent="0" algn="l">
              <a:buNone/>
            </a:pPr>
            <a:r>
              <a:rPr lang="en-US" sz="2400" b="1" dirty="0"/>
              <a:t>Tools, Languages, or Frameworks</a:t>
            </a:r>
            <a:r>
              <a:rPr lang="en-US" sz="2400" dirty="0"/>
              <a:t>:</a:t>
            </a:r>
            <a:endParaRPr lang="en-US" sz="2400" b="1" dirty="0"/>
          </a:p>
        </p:txBody>
      </p:sp>
      <p:sp>
        <p:nvSpPr>
          <p:cNvPr id="3" name="Text 1"/>
          <p:cNvSpPr/>
          <p:nvPr/>
        </p:nvSpPr>
        <p:spPr>
          <a:xfrm>
            <a:off x="914400" y="1467273"/>
            <a:ext cx="7315200" cy="2743200"/>
          </a:xfrm>
          <a:prstGeom prst="rect">
            <a:avLst/>
          </a:prstGeom>
          <a:noFill/>
          <a:ln/>
        </p:spPr>
        <p:txBody>
          <a:bodyPr wrap="square" rtlCol="0" anchor="t"/>
          <a:lstStyle/>
          <a:p>
            <a:pPr marL="342900" indent="-342900">
              <a:buFont typeface="+mj-lt"/>
              <a:buAutoNum type="arabicPeriod"/>
            </a:pPr>
            <a:r>
              <a:rPr lang="en-US" sz="1200" b="1" dirty="0"/>
              <a:t>Programming Language: </a:t>
            </a:r>
            <a:r>
              <a:rPr lang="en-US" sz="1200" dirty="0"/>
              <a:t>Python is utilized for data processing, model training, and sentiment analysis due to its extensive libraries and community support.</a:t>
            </a:r>
          </a:p>
          <a:p>
            <a:pPr marL="342900" indent="-342900">
              <a:buFont typeface="+mj-lt"/>
              <a:buAutoNum type="arabicPeriod"/>
            </a:pPr>
            <a:endParaRPr lang="en-US" sz="1200" b="1" dirty="0"/>
          </a:p>
          <a:p>
            <a:pPr marL="342900" indent="-342900">
              <a:buFont typeface="+mj-lt"/>
              <a:buAutoNum type="arabicPeriod"/>
            </a:pPr>
            <a:r>
              <a:rPr lang="en-US" sz="1200" b="1" dirty="0"/>
              <a:t>Data Analysis Libraries: </a:t>
            </a:r>
            <a:r>
              <a:rPr lang="en-US" sz="1200" dirty="0"/>
              <a:t>Pandas and NumPy are employed for efficient data manipulation and numerical operations, facilitating seamless dataset handling</a:t>
            </a:r>
            <a:r>
              <a:rPr lang="en-US" sz="1200" b="1" dirty="0"/>
              <a:t>.</a:t>
            </a:r>
          </a:p>
          <a:p>
            <a:pPr marL="342900" indent="-342900">
              <a:buFont typeface="+mj-lt"/>
              <a:buAutoNum type="arabicPeriod"/>
            </a:pPr>
            <a:endParaRPr lang="en-US" sz="1200" b="1" dirty="0"/>
          </a:p>
          <a:p>
            <a:pPr marL="342900" indent="-342900">
              <a:buFont typeface="+mj-lt"/>
              <a:buAutoNum type="arabicPeriod"/>
            </a:pPr>
            <a:r>
              <a:rPr lang="en-US" sz="1200" b="1" dirty="0"/>
              <a:t>Natural Language Processing: </a:t>
            </a:r>
            <a:r>
              <a:rPr lang="en-US" sz="1200" dirty="0"/>
              <a:t>NLTK and </a:t>
            </a:r>
            <a:r>
              <a:rPr lang="en-US" sz="1200" dirty="0" err="1"/>
              <a:t>SpaCy</a:t>
            </a:r>
            <a:r>
              <a:rPr lang="en-US" sz="1200" dirty="0"/>
              <a:t> are used for text preprocessing tasks like tokenization and </a:t>
            </a:r>
            <a:r>
              <a:rPr lang="en-US" sz="1200" dirty="0" err="1"/>
              <a:t>stopword</a:t>
            </a:r>
            <a:r>
              <a:rPr lang="en-US" sz="1200" dirty="0"/>
              <a:t> removal, enabling advanced NLP capabilities.</a:t>
            </a:r>
          </a:p>
          <a:p>
            <a:pPr marL="342900" indent="-342900">
              <a:buFont typeface="+mj-lt"/>
              <a:buAutoNum type="arabicPeriod"/>
            </a:pPr>
            <a:endParaRPr lang="en-US" sz="1200" b="1" dirty="0"/>
          </a:p>
          <a:p>
            <a:pPr marL="342900" indent="-342900">
              <a:buFont typeface="+mj-lt"/>
              <a:buAutoNum type="arabicPeriod"/>
            </a:pPr>
            <a:r>
              <a:rPr lang="en-US" sz="1200" b="1" dirty="0"/>
              <a:t>Machine Learning Frameworks: </a:t>
            </a:r>
            <a:r>
              <a:rPr lang="en-US" sz="1200" dirty="0"/>
              <a:t>Scikit-Learn is used for traditional models like Naive Bayes and SVM, while </a:t>
            </a:r>
            <a:r>
              <a:rPr lang="en-US" sz="1200" dirty="0" err="1"/>
              <a:t>Keras</a:t>
            </a:r>
            <a:r>
              <a:rPr lang="en-US" sz="1200" dirty="0"/>
              <a:t>/TensorFlow support building and training deep learning models</a:t>
            </a:r>
            <a:r>
              <a:rPr lang="en-US" sz="1200" b="1" dirty="0"/>
              <a:t>.</a:t>
            </a:r>
          </a:p>
          <a:p>
            <a:pPr marL="342900" indent="-342900">
              <a:buFont typeface="+mj-lt"/>
              <a:buAutoNum type="arabicPeriod"/>
            </a:pPr>
            <a:endParaRPr lang="en-US" sz="1200" b="1" dirty="0"/>
          </a:p>
          <a:p>
            <a:pPr marL="342900" indent="-342900">
              <a:buFont typeface="+mj-lt"/>
              <a:buAutoNum type="arabicPeriod"/>
            </a:pPr>
            <a:r>
              <a:rPr lang="en-US" sz="1200" b="1" dirty="0"/>
              <a:t>Web Framework: </a:t>
            </a:r>
            <a:r>
              <a:rPr lang="en-US" sz="1200" dirty="0"/>
              <a:t>Flask or Django is chosen for developing the web application interface, providing a user-friendly platform for sentiment analysis.</a:t>
            </a:r>
          </a:p>
          <a:p>
            <a:pPr marL="342900" indent="-342900">
              <a:buFont typeface="+mj-lt"/>
              <a:buAutoNum type="arabicPeriod"/>
            </a:pPr>
            <a:endParaRPr lang="en-US" sz="1200" b="1" dirty="0"/>
          </a:p>
          <a:p>
            <a:pPr marL="342900" indent="-342900">
              <a:buFont typeface="+mj-lt"/>
              <a:buAutoNum type="arabicPeriod"/>
            </a:pPr>
            <a:r>
              <a:rPr lang="en-US" sz="1200" b="1" dirty="0"/>
              <a:t>Deployment: </a:t>
            </a:r>
            <a:r>
              <a:rPr lang="en-US" sz="1200" dirty="0" err="1"/>
              <a:t>Gradio</a:t>
            </a:r>
            <a:r>
              <a:rPr lang="en-US" sz="1200" dirty="0"/>
              <a:t> is employed to create a simple web interface that allows users to input reviews and see predictions in real-time</a:t>
            </a:r>
            <a:r>
              <a:rPr lang="en-US" sz="1200" b="1" dirty="0"/>
              <a:t>.</a:t>
            </a:r>
          </a:p>
        </p:txBody>
      </p:sp>
    </p:spTree>
    <p:extLst>
      <p:ext uri="{BB962C8B-B14F-4D97-AF65-F5344CB8AC3E}">
        <p14:creationId xmlns:p14="http://schemas.microsoft.com/office/powerpoint/2010/main" val="2635587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r>
              <a:rPr lang="en-US" sz="2400" b="1" dirty="0"/>
              <a:t>Proposed Solution</a:t>
            </a:r>
          </a:p>
        </p:txBody>
      </p:sp>
      <p:sp>
        <p:nvSpPr>
          <p:cNvPr id="3" name="Text 1"/>
          <p:cNvSpPr/>
          <p:nvPr/>
        </p:nvSpPr>
        <p:spPr>
          <a:xfrm>
            <a:off x="914400" y="1450690"/>
            <a:ext cx="7315200" cy="2917135"/>
          </a:xfrm>
          <a:prstGeom prst="rect">
            <a:avLst/>
          </a:prstGeom>
          <a:noFill/>
          <a:ln/>
        </p:spPr>
        <p:txBody>
          <a:bodyPr wrap="square" rtlCol="0" anchor="t"/>
          <a:lstStyle/>
          <a:p>
            <a:r>
              <a:rPr lang="en-US" sz="1400" dirty="0"/>
              <a:t>Develop a sentiment analysis system using machine learning techniques to classify IMDB movie reviews as positive or negative.</a:t>
            </a:r>
          </a:p>
          <a:p>
            <a:endParaRPr lang="en-US" sz="1400" dirty="0"/>
          </a:p>
          <a:p>
            <a:r>
              <a:rPr lang="en-US" sz="1400" b="1" dirty="0"/>
              <a:t>Key Features:</a:t>
            </a:r>
          </a:p>
          <a:p>
            <a:endParaRPr lang="en-US" sz="1400" b="1" i="1" dirty="0"/>
          </a:p>
          <a:p>
            <a:r>
              <a:rPr lang="en-US" sz="1400" b="1" i="1" dirty="0"/>
              <a:t>High Accuracy Sentiment Classification</a:t>
            </a:r>
          </a:p>
          <a:p>
            <a:r>
              <a:rPr lang="en-US" sz="1400" b="1" i="1" dirty="0"/>
              <a:t>Efficient Text Data Processing</a:t>
            </a:r>
          </a:p>
          <a:p>
            <a:r>
              <a:rPr lang="en-US" sz="1400" b="1" i="1" dirty="0"/>
              <a:t>Scalable for Large Datasets</a:t>
            </a:r>
          </a:p>
          <a:p>
            <a:r>
              <a:rPr lang="en-US" sz="1400" b="1" i="1" dirty="0"/>
              <a:t>User-Friendly Web Interface</a:t>
            </a:r>
          </a:p>
          <a:p>
            <a:r>
              <a:rPr lang="en-US" sz="1400" b="1" i="1" dirty="0"/>
              <a:t>Real-Time Sentiment Predictions</a:t>
            </a:r>
            <a:endParaRPr lang="en-US" sz="1400" b="1" dirty="0"/>
          </a:p>
        </p:txBody>
      </p:sp>
    </p:spTree>
    <p:extLst>
      <p:ext uri="{BB962C8B-B14F-4D97-AF65-F5344CB8AC3E}">
        <p14:creationId xmlns:p14="http://schemas.microsoft.com/office/powerpoint/2010/main" val="1325393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r>
              <a:rPr lang="en-US" sz="2400" dirty="0"/>
              <a:t>1. Data Preprocessing</a:t>
            </a:r>
            <a:endParaRPr lang="en-US" sz="2400" b="1" dirty="0"/>
          </a:p>
        </p:txBody>
      </p:sp>
      <p:sp>
        <p:nvSpPr>
          <p:cNvPr id="3" name="Text 1"/>
          <p:cNvSpPr/>
          <p:nvPr/>
        </p:nvSpPr>
        <p:spPr>
          <a:xfrm>
            <a:off x="2011680" y="2687683"/>
            <a:ext cx="7315200" cy="2917135"/>
          </a:xfrm>
          <a:prstGeom prst="rect">
            <a:avLst/>
          </a:prstGeom>
          <a:noFill/>
          <a:ln/>
        </p:spPr>
        <p:txBody>
          <a:bodyPr wrap="square" rtlCol="0" anchor="t"/>
          <a:lstStyle/>
          <a:p>
            <a:pPr>
              <a:lnSpc>
                <a:spcPts val="2000"/>
              </a:lnSpc>
              <a:spcAft>
                <a:spcPts val="1200"/>
              </a:spcAft>
              <a:buSzPct val="100000"/>
            </a:pPr>
            <a:endParaRPr lang="en-US" sz="1400" dirty="0"/>
          </a:p>
        </p:txBody>
      </p:sp>
      <p:pic>
        <p:nvPicPr>
          <p:cNvPr id="5" name="Picture 4">
            <a:extLst>
              <a:ext uri="{FF2B5EF4-FFF2-40B4-BE49-F238E27FC236}">
                <a16:creationId xmlns:a16="http://schemas.microsoft.com/office/drawing/2014/main" id="{B74BF0C8-FAB0-A41E-D60A-F414CE32C996}"/>
              </a:ext>
            </a:extLst>
          </p:cNvPr>
          <p:cNvPicPr>
            <a:picLocks noChangeAspect="1"/>
          </p:cNvPicPr>
          <p:nvPr/>
        </p:nvPicPr>
        <p:blipFill>
          <a:blip r:embed="rId4"/>
          <a:stretch>
            <a:fillRect/>
          </a:stretch>
        </p:blipFill>
        <p:spPr>
          <a:xfrm>
            <a:off x="718458" y="1512639"/>
            <a:ext cx="5114108" cy="2772216"/>
          </a:xfrm>
          <a:prstGeom prst="rect">
            <a:avLst/>
          </a:prstGeom>
        </p:spPr>
      </p:pic>
      <p:sp>
        <p:nvSpPr>
          <p:cNvPr id="6" name="TextBox 5">
            <a:extLst>
              <a:ext uri="{FF2B5EF4-FFF2-40B4-BE49-F238E27FC236}">
                <a16:creationId xmlns:a16="http://schemas.microsoft.com/office/drawing/2014/main" id="{319B35A6-9A1F-2ED2-99CB-167FDEAC7269}"/>
              </a:ext>
            </a:extLst>
          </p:cNvPr>
          <p:cNvSpPr txBox="1"/>
          <p:nvPr/>
        </p:nvSpPr>
        <p:spPr>
          <a:xfrm>
            <a:off x="5910943" y="1512639"/>
            <a:ext cx="2592977" cy="1938992"/>
          </a:xfrm>
          <a:prstGeom prst="rect">
            <a:avLst/>
          </a:prstGeom>
          <a:noFill/>
        </p:spPr>
        <p:txBody>
          <a:bodyPr wrap="square" rtlCol="0">
            <a:spAutoFit/>
          </a:bodyPr>
          <a:lstStyle/>
          <a:p>
            <a:r>
              <a:rPr lang="en-US" sz="1000" dirty="0"/>
              <a:t>Load the dataset and split it into training and testing sets.</a:t>
            </a:r>
          </a:p>
          <a:p>
            <a:endParaRPr lang="en-US" sz="1000" dirty="0"/>
          </a:p>
          <a:p>
            <a:r>
              <a:rPr lang="en-US" sz="1000" dirty="0"/>
              <a:t>Use a tokenizer to convert text reviews into numerical sequences.</a:t>
            </a:r>
          </a:p>
          <a:p>
            <a:endParaRPr lang="en-US" sz="1000" dirty="0"/>
          </a:p>
          <a:p>
            <a:r>
              <a:rPr lang="en-US" sz="1000" dirty="0"/>
              <a:t>Pad sequences to ensure uniform input size (200 words).</a:t>
            </a:r>
          </a:p>
          <a:p>
            <a:endParaRPr lang="en-US" sz="1000" dirty="0"/>
          </a:p>
          <a:p>
            <a:r>
              <a:rPr lang="en-US" sz="1000" dirty="0"/>
              <a:t>80% of data is used for training </a:t>
            </a:r>
          </a:p>
          <a:p>
            <a:endParaRPr lang="en-US" sz="1000" dirty="0"/>
          </a:p>
          <a:p>
            <a:r>
              <a:rPr lang="en-US" sz="1000" dirty="0"/>
              <a:t>20% of </a:t>
            </a:r>
            <a:r>
              <a:rPr lang="en-US" sz="1000" dirty="0" err="1"/>
              <a:t>dats</a:t>
            </a:r>
            <a:r>
              <a:rPr lang="en-US" sz="1000" dirty="0"/>
              <a:t> is used for testing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r>
              <a:rPr lang="en-US" sz="2400" dirty="0"/>
              <a:t>2. Model Training</a:t>
            </a:r>
            <a:endParaRPr lang="en-US" sz="2400" b="1" dirty="0"/>
          </a:p>
        </p:txBody>
      </p:sp>
      <p:sp>
        <p:nvSpPr>
          <p:cNvPr id="3" name="Text 1"/>
          <p:cNvSpPr/>
          <p:nvPr/>
        </p:nvSpPr>
        <p:spPr>
          <a:xfrm>
            <a:off x="2011680" y="2687683"/>
            <a:ext cx="7315200" cy="2917135"/>
          </a:xfrm>
          <a:prstGeom prst="rect">
            <a:avLst/>
          </a:prstGeom>
          <a:noFill/>
          <a:ln/>
        </p:spPr>
        <p:txBody>
          <a:bodyPr wrap="square" rtlCol="0" anchor="t"/>
          <a:lstStyle/>
          <a:p>
            <a:pPr>
              <a:lnSpc>
                <a:spcPts val="2000"/>
              </a:lnSpc>
              <a:spcAft>
                <a:spcPts val="1200"/>
              </a:spcAft>
              <a:buSzPct val="100000"/>
            </a:pPr>
            <a:endParaRPr lang="en-US" sz="1400" dirty="0"/>
          </a:p>
        </p:txBody>
      </p:sp>
      <p:sp>
        <p:nvSpPr>
          <p:cNvPr id="6" name="TextBox 5">
            <a:extLst>
              <a:ext uri="{FF2B5EF4-FFF2-40B4-BE49-F238E27FC236}">
                <a16:creationId xmlns:a16="http://schemas.microsoft.com/office/drawing/2014/main" id="{319B35A6-9A1F-2ED2-99CB-167FDEAC7269}"/>
              </a:ext>
            </a:extLst>
          </p:cNvPr>
          <p:cNvSpPr txBox="1"/>
          <p:nvPr/>
        </p:nvSpPr>
        <p:spPr>
          <a:xfrm>
            <a:off x="5910943" y="1512639"/>
            <a:ext cx="2592977" cy="1631216"/>
          </a:xfrm>
          <a:prstGeom prst="rect">
            <a:avLst/>
          </a:prstGeom>
          <a:noFill/>
        </p:spPr>
        <p:txBody>
          <a:bodyPr wrap="square" rtlCol="0">
            <a:spAutoFit/>
          </a:bodyPr>
          <a:lstStyle/>
          <a:p>
            <a:r>
              <a:rPr lang="en-US" sz="1000" dirty="0"/>
              <a:t>Build a Sequential LSTM model with embedding, LSTM, and dropout layers for regularization.</a:t>
            </a:r>
          </a:p>
          <a:p>
            <a:endParaRPr lang="en-US" sz="1000" dirty="0"/>
          </a:p>
          <a:p>
            <a:r>
              <a:rPr lang="en-US" sz="1000" dirty="0"/>
              <a:t>Compile the model with binary </a:t>
            </a:r>
            <a:r>
              <a:rPr lang="en-US" sz="1000" dirty="0" err="1"/>
              <a:t>crossentropy</a:t>
            </a:r>
            <a:r>
              <a:rPr lang="en-US" sz="1000" dirty="0"/>
              <a:t> loss (negative average of the log of corrected predicted probabilities used for classification problems) and train it using the padded sequences.</a:t>
            </a:r>
          </a:p>
        </p:txBody>
      </p:sp>
      <p:pic>
        <p:nvPicPr>
          <p:cNvPr id="9" name="Picture 8">
            <a:extLst>
              <a:ext uri="{FF2B5EF4-FFF2-40B4-BE49-F238E27FC236}">
                <a16:creationId xmlns:a16="http://schemas.microsoft.com/office/drawing/2014/main" id="{30C1C9F1-211E-5782-9633-026109DFE650}"/>
              </a:ext>
            </a:extLst>
          </p:cNvPr>
          <p:cNvPicPr>
            <a:picLocks noChangeAspect="1"/>
          </p:cNvPicPr>
          <p:nvPr/>
        </p:nvPicPr>
        <p:blipFill>
          <a:blip r:embed="rId4"/>
          <a:stretch>
            <a:fillRect/>
          </a:stretch>
        </p:blipFill>
        <p:spPr>
          <a:xfrm>
            <a:off x="651916" y="1587137"/>
            <a:ext cx="5213308" cy="2485010"/>
          </a:xfrm>
          <a:prstGeom prst="rect">
            <a:avLst/>
          </a:prstGeom>
        </p:spPr>
      </p:pic>
    </p:spTree>
    <p:extLst>
      <p:ext uri="{BB962C8B-B14F-4D97-AF65-F5344CB8AC3E}">
        <p14:creationId xmlns:p14="http://schemas.microsoft.com/office/powerpoint/2010/main" val="11972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endParaRPr lang="en-US" sz="2400" b="1" dirty="0"/>
          </a:p>
        </p:txBody>
      </p:sp>
      <p:sp>
        <p:nvSpPr>
          <p:cNvPr id="3" name="Text 1"/>
          <p:cNvSpPr/>
          <p:nvPr/>
        </p:nvSpPr>
        <p:spPr>
          <a:xfrm>
            <a:off x="2011680" y="2687683"/>
            <a:ext cx="7315200" cy="2917135"/>
          </a:xfrm>
          <a:prstGeom prst="rect">
            <a:avLst/>
          </a:prstGeom>
          <a:noFill/>
          <a:ln/>
        </p:spPr>
        <p:txBody>
          <a:bodyPr wrap="square" rtlCol="0" anchor="t"/>
          <a:lstStyle/>
          <a:p>
            <a:pPr>
              <a:lnSpc>
                <a:spcPts val="2000"/>
              </a:lnSpc>
              <a:spcAft>
                <a:spcPts val="1200"/>
              </a:spcAft>
              <a:buSzPct val="100000"/>
            </a:pPr>
            <a:endParaRPr lang="en-US" sz="1400" dirty="0"/>
          </a:p>
        </p:txBody>
      </p:sp>
      <p:pic>
        <p:nvPicPr>
          <p:cNvPr id="5" name="Picture 4">
            <a:extLst>
              <a:ext uri="{FF2B5EF4-FFF2-40B4-BE49-F238E27FC236}">
                <a16:creationId xmlns:a16="http://schemas.microsoft.com/office/drawing/2014/main" id="{75470A8B-6D80-36D0-554D-9890E00175AE}"/>
              </a:ext>
            </a:extLst>
          </p:cNvPr>
          <p:cNvPicPr>
            <a:picLocks noChangeAspect="1"/>
          </p:cNvPicPr>
          <p:nvPr/>
        </p:nvPicPr>
        <p:blipFill>
          <a:blip r:embed="rId4"/>
          <a:stretch>
            <a:fillRect/>
          </a:stretch>
        </p:blipFill>
        <p:spPr>
          <a:xfrm>
            <a:off x="661784" y="845676"/>
            <a:ext cx="7492044" cy="2295542"/>
          </a:xfrm>
          <a:prstGeom prst="rect">
            <a:avLst/>
          </a:prstGeom>
        </p:spPr>
      </p:pic>
      <p:pic>
        <p:nvPicPr>
          <p:cNvPr id="11" name="Picture 10">
            <a:extLst>
              <a:ext uri="{FF2B5EF4-FFF2-40B4-BE49-F238E27FC236}">
                <a16:creationId xmlns:a16="http://schemas.microsoft.com/office/drawing/2014/main" id="{275D2E0C-E884-D254-D3E1-A743FE12FC90}"/>
              </a:ext>
            </a:extLst>
          </p:cNvPr>
          <p:cNvPicPr>
            <a:picLocks noChangeAspect="1"/>
          </p:cNvPicPr>
          <p:nvPr/>
        </p:nvPicPr>
        <p:blipFill>
          <a:blip r:embed="rId5"/>
          <a:stretch>
            <a:fillRect/>
          </a:stretch>
        </p:blipFill>
        <p:spPr>
          <a:xfrm>
            <a:off x="1147484" y="3141217"/>
            <a:ext cx="6344535" cy="1438476"/>
          </a:xfrm>
          <a:prstGeom prst="rect">
            <a:avLst/>
          </a:prstGeom>
        </p:spPr>
      </p:pic>
    </p:spTree>
    <p:extLst>
      <p:ext uri="{BB962C8B-B14F-4D97-AF65-F5344CB8AC3E}">
        <p14:creationId xmlns:p14="http://schemas.microsoft.com/office/powerpoint/2010/main" val="2462581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r>
              <a:rPr lang="en-US" sz="2400" dirty="0"/>
              <a:t>3. Sentiment Prediction</a:t>
            </a:r>
            <a:endParaRPr lang="en-US" sz="2400" b="1" dirty="0"/>
          </a:p>
        </p:txBody>
      </p:sp>
      <p:sp>
        <p:nvSpPr>
          <p:cNvPr id="3" name="Text 1"/>
          <p:cNvSpPr/>
          <p:nvPr/>
        </p:nvSpPr>
        <p:spPr>
          <a:xfrm>
            <a:off x="2011680" y="2687683"/>
            <a:ext cx="7315200" cy="2917135"/>
          </a:xfrm>
          <a:prstGeom prst="rect">
            <a:avLst/>
          </a:prstGeom>
          <a:noFill/>
          <a:ln/>
        </p:spPr>
        <p:txBody>
          <a:bodyPr wrap="square" rtlCol="0" anchor="t"/>
          <a:lstStyle/>
          <a:p>
            <a:pPr>
              <a:lnSpc>
                <a:spcPts val="2000"/>
              </a:lnSpc>
              <a:spcAft>
                <a:spcPts val="1200"/>
              </a:spcAft>
              <a:buSzPct val="100000"/>
            </a:pPr>
            <a:endParaRPr lang="en-US" sz="1400" dirty="0"/>
          </a:p>
        </p:txBody>
      </p:sp>
      <p:sp>
        <p:nvSpPr>
          <p:cNvPr id="6" name="TextBox 5">
            <a:extLst>
              <a:ext uri="{FF2B5EF4-FFF2-40B4-BE49-F238E27FC236}">
                <a16:creationId xmlns:a16="http://schemas.microsoft.com/office/drawing/2014/main" id="{319B35A6-9A1F-2ED2-99CB-167FDEAC7269}"/>
              </a:ext>
            </a:extLst>
          </p:cNvPr>
          <p:cNvSpPr txBox="1"/>
          <p:nvPr/>
        </p:nvSpPr>
        <p:spPr>
          <a:xfrm>
            <a:off x="5910943" y="1512639"/>
            <a:ext cx="2592977" cy="1015663"/>
          </a:xfrm>
          <a:prstGeom prst="rect">
            <a:avLst/>
          </a:prstGeom>
          <a:noFill/>
        </p:spPr>
        <p:txBody>
          <a:bodyPr wrap="square" rtlCol="0">
            <a:spAutoFit/>
          </a:bodyPr>
          <a:lstStyle/>
          <a:p>
            <a:r>
              <a:rPr lang="en-US" sz="1000" dirty="0"/>
              <a:t>The </a:t>
            </a:r>
            <a:r>
              <a:rPr lang="en-US" sz="1000" dirty="0" err="1"/>
              <a:t>predict_sentiment</a:t>
            </a:r>
            <a:r>
              <a:rPr lang="en-US" sz="1000" dirty="0"/>
              <a:t> function processes a new review and predicts its sentiment.</a:t>
            </a:r>
          </a:p>
          <a:p>
            <a:endParaRPr lang="en-US" sz="1000" dirty="0"/>
          </a:p>
          <a:p>
            <a:r>
              <a:rPr lang="en-US" sz="1000" dirty="0"/>
              <a:t>Returns "positive" or "negative" based on the predicted probability.</a:t>
            </a:r>
          </a:p>
        </p:txBody>
      </p:sp>
      <p:pic>
        <p:nvPicPr>
          <p:cNvPr id="5" name="Picture 4">
            <a:extLst>
              <a:ext uri="{FF2B5EF4-FFF2-40B4-BE49-F238E27FC236}">
                <a16:creationId xmlns:a16="http://schemas.microsoft.com/office/drawing/2014/main" id="{90FDA335-3F40-EBC5-09AE-9E078C9F3723}"/>
              </a:ext>
            </a:extLst>
          </p:cNvPr>
          <p:cNvPicPr>
            <a:picLocks noChangeAspect="1"/>
          </p:cNvPicPr>
          <p:nvPr/>
        </p:nvPicPr>
        <p:blipFill>
          <a:blip r:embed="rId4"/>
          <a:stretch>
            <a:fillRect/>
          </a:stretch>
        </p:blipFill>
        <p:spPr>
          <a:xfrm>
            <a:off x="629786" y="1508604"/>
            <a:ext cx="5039494" cy="2126291"/>
          </a:xfrm>
          <a:prstGeom prst="rect">
            <a:avLst/>
          </a:prstGeom>
        </p:spPr>
      </p:pic>
    </p:spTree>
    <p:extLst>
      <p:ext uri="{BB962C8B-B14F-4D97-AF65-F5344CB8AC3E}">
        <p14:creationId xmlns:p14="http://schemas.microsoft.com/office/powerpoint/2010/main" val="69494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r>
              <a:rPr lang="en-US" sz="2400" dirty="0"/>
              <a:t>4. Web Interface with </a:t>
            </a:r>
            <a:r>
              <a:rPr lang="en-US" sz="2400" dirty="0" err="1"/>
              <a:t>Gradio</a:t>
            </a:r>
            <a:endParaRPr lang="en-US" sz="2400" b="1" dirty="0"/>
          </a:p>
        </p:txBody>
      </p:sp>
      <p:sp>
        <p:nvSpPr>
          <p:cNvPr id="3" name="Text 1"/>
          <p:cNvSpPr/>
          <p:nvPr/>
        </p:nvSpPr>
        <p:spPr>
          <a:xfrm>
            <a:off x="2011680" y="2687683"/>
            <a:ext cx="7315200" cy="2917135"/>
          </a:xfrm>
          <a:prstGeom prst="rect">
            <a:avLst/>
          </a:prstGeom>
          <a:noFill/>
          <a:ln/>
        </p:spPr>
        <p:txBody>
          <a:bodyPr wrap="square" rtlCol="0" anchor="t"/>
          <a:lstStyle/>
          <a:p>
            <a:pPr>
              <a:lnSpc>
                <a:spcPts val="2000"/>
              </a:lnSpc>
              <a:spcAft>
                <a:spcPts val="1200"/>
              </a:spcAft>
              <a:buSzPct val="100000"/>
            </a:pPr>
            <a:endParaRPr lang="en-US" sz="1400" dirty="0"/>
          </a:p>
        </p:txBody>
      </p:sp>
      <p:sp>
        <p:nvSpPr>
          <p:cNvPr id="6" name="TextBox 5">
            <a:extLst>
              <a:ext uri="{FF2B5EF4-FFF2-40B4-BE49-F238E27FC236}">
                <a16:creationId xmlns:a16="http://schemas.microsoft.com/office/drawing/2014/main" id="{319B35A6-9A1F-2ED2-99CB-167FDEAC7269}"/>
              </a:ext>
            </a:extLst>
          </p:cNvPr>
          <p:cNvSpPr txBox="1"/>
          <p:nvPr/>
        </p:nvSpPr>
        <p:spPr>
          <a:xfrm>
            <a:off x="5910943" y="1512639"/>
            <a:ext cx="2592977" cy="1169551"/>
          </a:xfrm>
          <a:prstGeom prst="rect">
            <a:avLst/>
          </a:prstGeom>
          <a:noFill/>
        </p:spPr>
        <p:txBody>
          <a:bodyPr wrap="square" rtlCol="0">
            <a:spAutoFit/>
          </a:bodyPr>
          <a:lstStyle/>
          <a:p>
            <a:r>
              <a:rPr lang="en-US" sz="1000" dirty="0"/>
              <a:t>Use </a:t>
            </a:r>
            <a:r>
              <a:rPr lang="en-US" sz="1000" dirty="0" err="1"/>
              <a:t>Gradio</a:t>
            </a:r>
            <a:r>
              <a:rPr lang="en-US" sz="1000" dirty="0"/>
              <a:t> to create a simple web interface that connects to the </a:t>
            </a:r>
            <a:r>
              <a:rPr lang="en-US" sz="1000" dirty="0" err="1"/>
              <a:t>predict_sentiment</a:t>
            </a:r>
            <a:r>
              <a:rPr lang="en-US" sz="1000" dirty="0"/>
              <a:t> function.</a:t>
            </a:r>
          </a:p>
          <a:p>
            <a:endParaRPr lang="en-US" sz="1000" dirty="0"/>
          </a:p>
          <a:p>
            <a:r>
              <a:rPr lang="en-US" sz="1000" dirty="0"/>
              <a:t>Launch the app, providing a shareable link for users to test the sentiment analysis in real time.</a:t>
            </a:r>
          </a:p>
        </p:txBody>
      </p:sp>
      <p:pic>
        <p:nvPicPr>
          <p:cNvPr id="7" name="Picture 6">
            <a:extLst>
              <a:ext uri="{FF2B5EF4-FFF2-40B4-BE49-F238E27FC236}">
                <a16:creationId xmlns:a16="http://schemas.microsoft.com/office/drawing/2014/main" id="{81FBB9F9-D8D5-BF33-BBAF-A8C5B5ABC46C}"/>
              </a:ext>
            </a:extLst>
          </p:cNvPr>
          <p:cNvPicPr>
            <a:picLocks noChangeAspect="1"/>
          </p:cNvPicPr>
          <p:nvPr/>
        </p:nvPicPr>
        <p:blipFill>
          <a:blip r:embed="rId4"/>
          <a:stretch>
            <a:fillRect/>
          </a:stretch>
        </p:blipFill>
        <p:spPr>
          <a:xfrm>
            <a:off x="566358" y="1551827"/>
            <a:ext cx="5193097" cy="1717766"/>
          </a:xfrm>
          <a:prstGeom prst="rect">
            <a:avLst/>
          </a:prstGeom>
        </p:spPr>
      </p:pic>
    </p:spTree>
    <p:extLst>
      <p:ext uri="{BB962C8B-B14F-4D97-AF65-F5344CB8AC3E}">
        <p14:creationId xmlns:p14="http://schemas.microsoft.com/office/powerpoint/2010/main" val="2493617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070610"/>
            <a:ext cx="6400800" cy="228600"/>
          </a:xfrm>
          <a:prstGeom prst="rect">
            <a:avLst/>
          </a:prstGeom>
          <a:noFill/>
          <a:ln/>
        </p:spPr>
        <p:txBody>
          <a:bodyPr wrap="square" rtlCol="0" anchor="b"/>
          <a:lstStyle/>
          <a:p>
            <a:pPr marL="0" indent="0" algn="l">
              <a:buNone/>
            </a:pPr>
            <a:r>
              <a:rPr lang="en-US" sz="2400" dirty="0"/>
              <a:t>Output</a:t>
            </a:r>
          </a:p>
          <a:p>
            <a:pPr marL="0" indent="0" algn="l">
              <a:buNone/>
            </a:pPr>
            <a:endParaRPr lang="en-US" sz="2400" b="1" dirty="0"/>
          </a:p>
        </p:txBody>
      </p:sp>
      <p:sp>
        <p:nvSpPr>
          <p:cNvPr id="3" name="Text 1"/>
          <p:cNvSpPr/>
          <p:nvPr/>
        </p:nvSpPr>
        <p:spPr>
          <a:xfrm>
            <a:off x="2011680" y="2687683"/>
            <a:ext cx="7315200" cy="2917135"/>
          </a:xfrm>
          <a:prstGeom prst="rect">
            <a:avLst/>
          </a:prstGeom>
          <a:noFill/>
          <a:ln/>
        </p:spPr>
        <p:txBody>
          <a:bodyPr wrap="square" rtlCol="0" anchor="t"/>
          <a:lstStyle/>
          <a:p>
            <a:pPr>
              <a:lnSpc>
                <a:spcPts val="2000"/>
              </a:lnSpc>
              <a:spcAft>
                <a:spcPts val="1200"/>
              </a:spcAft>
              <a:buSzPct val="100000"/>
            </a:pPr>
            <a:endParaRPr lang="en-US" sz="1400" dirty="0"/>
          </a:p>
        </p:txBody>
      </p:sp>
      <p:pic>
        <p:nvPicPr>
          <p:cNvPr id="5" name="Picture 4" descr="Positive ">
            <a:extLst>
              <a:ext uri="{FF2B5EF4-FFF2-40B4-BE49-F238E27FC236}">
                <a16:creationId xmlns:a16="http://schemas.microsoft.com/office/drawing/2014/main" id="{D3D46A82-D27B-A2A0-C394-774E11992974}"/>
              </a:ext>
            </a:extLst>
          </p:cNvPr>
          <p:cNvPicPr>
            <a:picLocks noChangeAspect="1"/>
          </p:cNvPicPr>
          <p:nvPr/>
        </p:nvPicPr>
        <p:blipFill>
          <a:blip r:embed="rId4"/>
          <a:stretch>
            <a:fillRect/>
          </a:stretch>
        </p:blipFill>
        <p:spPr>
          <a:xfrm>
            <a:off x="914400" y="933994"/>
            <a:ext cx="2458299" cy="3615146"/>
          </a:xfrm>
          <a:prstGeom prst="rect">
            <a:avLst/>
          </a:prstGeom>
        </p:spPr>
      </p:pic>
      <p:pic>
        <p:nvPicPr>
          <p:cNvPr id="9" name="Picture 8" descr="Negative">
            <a:extLst>
              <a:ext uri="{FF2B5EF4-FFF2-40B4-BE49-F238E27FC236}">
                <a16:creationId xmlns:a16="http://schemas.microsoft.com/office/drawing/2014/main" id="{3CB87E8C-9930-77F7-9FEB-7C6C9BFB16AA}"/>
              </a:ext>
            </a:extLst>
          </p:cNvPr>
          <p:cNvPicPr>
            <a:picLocks noChangeAspect="1"/>
          </p:cNvPicPr>
          <p:nvPr/>
        </p:nvPicPr>
        <p:blipFill>
          <a:blip r:embed="rId5"/>
          <a:stretch>
            <a:fillRect/>
          </a:stretch>
        </p:blipFill>
        <p:spPr>
          <a:xfrm>
            <a:off x="3515691" y="933934"/>
            <a:ext cx="2505749" cy="3615147"/>
          </a:xfrm>
          <a:prstGeom prst="rect">
            <a:avLst/>
          </a:prstGeom>
        </p:spPr>
      </p:pic>
      <p:sp>
        <p:nvSpPr>
          <p:cNvPr id="10" name="TextBox 9">
            <a:extLst>
              <a:ext uri="{FF2B5EF4-FFF2-40B4-BE49-F238E27FC236}">
                <a16:creationId xmlns:a16="http://schemas.microsoft.com/office/drawing/2014/main" id="{43D3398D-AAE8-50FD-BA45-5583223C29CF}"/>
              </a:ext>
            </a:extLst>
          </p:cNvPr>
          <p:cNvSpPr txBox="1"/>
          <p:nvPr/>
        </p:nvSpPr>
        <p:spPr>
          <a:xfrm>
            <a:off x="6540137" y="2370529"/>
            <a:ext cx="1550126" cy="276999"/>
          </a:xfrm>
          <a:prstGeom prst="rect">
            <a:avLst/>
          </a:prstGeom>
          <a:noFill/>
        </p:spPr>
        <p:txBody>
          <a:bodyPr wrap="square" rtlCol="0">
            <a:spAutoFit/>
          </a:bodyPr>
          <a:lstStyle/>
          <a:p>
            <a:pPr algn="ctr"/>
            <a:r>
              <a:rPr lang="en-US" sz="1200" dirty="0"/>
              <a:t>Web Link</a:t>
            </a:r>
          </a:p>
        </p:txBody>
      </p:sp>
      <p:pic>
        <p:nvPicPr>
          <p:cNvPr id="8196" name="Picture 4" descr="QR Code Image">
            <a:extLst>
              <a:ext uri="{FF2B5EF4-FFF2-40B4-BE49-F238E27FC236}">
                <a16:creationId xmlns:a16="http://schemas.microsoft.com/office/drawing/2014/main" id="{23568A0F-8900-BF93-5AD8-C6146F46B5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0137" y="2604590"/>
            <a:ext cx="1604976" cy="160497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028F29D-892E-B90B-0BC8-2D5D81869FD4}"/>
              </a:ext>
            </a:extLst>
          </p:cNvPr>
          <p:cNvSpPr txBox="1"/>
          <p:nvPr/>
        </p:nvSpPr>
        <p:spPr>
          <a:xfrm>
            <a:off x="6433457" y="4258961"/>
            <a:ext cx="1854926" cy="276999"/>
          </a:xfrm>
          <a:prstGeom prst="rect">
            <a:avLst/>
          </a:prstGeom>
          <a:noFill/>
        </p:spPr>
        <p:txBody>
          <a:bodyPr wrap="square" rtlCol="0">
            <a:spAutoFit/>
          </a:bodyPr>
          <a:lstStyle/>
          <a:p>
            <a:pPr algn="ctr"/>
            <a:r>
              <a:rPr lang="en-US" sz="1200" dirty="0"/>
              <a:t>Code Link</a:t>
            </a:r>
          </a:p>
        </p:txBody>
      </p:sp>
      <p:pic>
        <p:nvPicPr>
          <p:cNvPr id="1026" name="Picture 2" descr="QR Code Image">
            <a:extLst>
              <a:ext uri="{FF2B5EF4-FFF2-40B4-BE49-F238E27FC236}">
                <a16:creationId xmlns:a16="http://schemas.microsoft.com/office/drawing/2014/main" id="{56DEC0A7-383A-9AE6-C85F-5D3B738C7C5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40137" y="816337"/>
            <a:ext cx="1604976" cy="1604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050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131570"/>
            <a:ext cx="6400800" cy="228600"/>
          </a:xfrm>
          <a:prstGeom prst="rect">
            <a:avLst/>
          </a:prstGeom>
          <a:noFill/>
          <a:ln/>
        </p:spPr>
        <p:txBody>
          <a:bodyPr wrap="square" rtlCol="0" anchor="b"/>
          <a:lstStyle/>
          <a:p>
            <a:pPr marL="0" indent="0" algn="l">
              <a:buNone/>
            </a:pPr>
            <a:r>
              <a:rPr lang="en-US" sz="2400" b="1" dirty="0"/>
              <a:t>System Architecture</a:t>
            </a:r>
          </a:p>
        </p:txBody>
      </p:sp>
      <p:sp>
        <p:nvSpPr>
          <p:cNvPr id="3" name="Text 1"/>
          <p:cNvSpPr/>
          <p:nvPr/>
        </p:nvSpPr>
        <p:spPr>
          <a:xfrm>
            <a:off x="914400" y="1575646"/>
            <a:ext cx="7315200" cy="2743200"/>
          </a:xfrm>
          <a:prstGeom prst="rect">
            <a:avLst/>
          </a:prstGeom>
          <a:noFill/>
          <a:ln/>
        </p:spPr>
        <p:txBody>
          <a:bodyPr wrap="square" rtlCol="0" anchor="t"/>
          <a:lstStyle/>
          <a:p>
            <a:pPr algn="just"/>
            <a:r>
              <a:rPr lang="en-US" sz="1200" b="1" dirty="0"/>
              <a:t>Block Diagram:-</a:t>
            </a:r>
          </a:p>
          <a:p>
            <a:pPr algn="just"/>
            <a:r>
              <a:rPr lang="en-US" sz="1200" b="1" dirty="0"/>
              <a:t>Movie Review Input → Text Preprocessing Module → Tokenization &amp; Padding → </a:t>
            </a:r>
          </a:p>
          <a:p>
            <a:pPr algn="just"/>
            <a:r>
              <a:rPr lang="en-US" sz="1200" b="1" dirty="0"/>
              <a:t>     Sentiment Analysis Model → Sentiment Prediction Output (Positive/Negative)</a:t>
            </a:r>
          </a:p>
          <a:p>
            <a:pPr algn="just"/>
            <a:endParaRPr lang="en-US" sz="1200" b="1" dirty="0"/>
          </a:p>
          <a:p>
            <a:pPr algn="just"/>
            <a:r>
              <a:rPr lang="en-US" sz="1200" b="1" dirty="0"/>
              <a:t>Description of Components:</a:t>
            </a:r>
          </a:p>
          <a:p>
            <a:pPr algn="just"/>
            <a:endParaRPr lang="en-US" sz="1200" b="1" dirty="0"/>
          </a:p>
          <a:p>
            <a:pPr algn="just"/>
            <a:r>
              <a:rPr lang="en-US" sz="1200" dirty="0"/>
              <a:t>    </a:t>
            </a:r>
            <a:r>
              <a:rPr lang="en-US" sz="1200" b="1" dirty="0"/>
              <a:t>Movie Review Input</a:t>
            </a:r>
            <a:r>
              <a:rPr lang="en-US" sz="1200" dirty="0"/>
              <a:t>: The raw text input from the user (e.g., a movie review).</a:t>
            </a:r>
          </a:p>
          <a:p>
            <a:pPr algn="just"/>
            <a:r>
              <a:rPr lang="en-US" sz="1200" dirty="0"/>
              <a:t>    </a:t>
            </a:r>
            <a:r>
              <a:rPr lang="en-US" sz="1200" b="1" dirty="0"/>
              <a:t>Text Preprocessing Module</a:t>
            </a:r>
            <a:r>
              <a:rPr lang="en-US" sz="1200" dirty="0"/>
              <a:t>: This module cleans and prepares the text for analysis (e.g., 	removing </a:t>
            </a:r>
            <a:r>
              <a:rPr lang="en-US" sz="1200" dirty="0" err="1"/>
              <a:t>stopwords</a:t>
            </a:r>
            <a:r>
              <a:rPr lang="en-US" sz="1200" dirty="0"/>
              <a:t>, punctuation).</a:t>
            </a:r>
          </a:p>
          <a:p>
            <a:pPr algn="just"/>
            <a:r>
              <a:rPr lang="en-US" sz="1200" dirty="0"/>
              <a:t>    </a:t>
            </a:r>
            <a:r>
              <a:rPr lang="en-US" sz="1200" b="1" dirty="0"/>
              <a:t>Tokenization &amp; Padding</a:t>
            </a:r>
            <a:r>
              <a:rPr lang="en-US" sz="1200" dirty="0"/>
              <a:t>: Converts the preprocessed text into numerical sequences and 	ensures uniform length for model input.</a:t>
            </a:r>
          </a:p>
          <a:p>
            <a:pPr algn="just"/>
            <a:r>
              <a:rPr lang="en-US" sz="1200" dirty="0"/>
              <a:t>    </a:t>
            </a:r>
            <a:r>
              <a:rPr lang="en-US" sz="1200" b="1" dirty="0"/>
              <a:t>Sentiment Analysis Model</a:t>
            </a:r>
            <a:r>
              <a:rPr lang="en-US" sz="1200" dirty="0"/>
              <a:t>: The trained machine learning model (e.g., LSTM) that processes the 	input data to classify sentiment.</a:t>
            </a:r>
          </a:p>
          <a:p>
            <a:pPr algn="just"/>
            <a:r>
              <a:rPr lang="en-US" sz="1200" dirty="0"/>
              <a:t>    </a:t>
            </a:r>
            <a:r>
              <a:rPr lang="en-US" sz="1200" b="1" dirty="0"/>
              <a:t>Sentiment Prediction Output</a:t>
            </a:r>
            <a:r>
              <a:rPr lang="en-US" sz="1200" dirty="0"/>
              <a:t>: The final output indicating whether the sentiment is positive or 	negative.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131570"/>
            <a:ext cx="6400800" cy="228600"/>
          </a:xfrm>
          <a:prstGeom prst="rect">
            <a:avLst/>
          </a:prstGeom>
          <a:noFill/>
          <a:ln/>
        </p:spPr>
        <p:txBody>
          <a:bodyPr wrap="square" rtlCol="0" anchor="b"/>
          <a:lstStyle/>
          <a:p>
            <a:pPr marL="0" indent="0" algn="l">
              <a:buNone/>
            </a:pPr>
            <a:r>
              <a:rPr lang="en-US" sz="3000" b="1" dirty="0">
                <a:solidFill>
                  <a:srgbClr val="000000"/>
                </a:solidFill>
                <a:latin typeface="Plus Jakarta Sans" pitchFamily="34" charset="0"/>
                <a:ea typeface="Plus Jakarta Sans" pitchFamily="34" charset="-122"/>
                <a:cs typeface="Plus Jakarta Sans" pitchFamily="34" charset="-120"/>
              </a:rPr>
              <a:t>Thank You!</a:t>
            </a:r>
            <a:endParaRPr lang="en-US" sz="3000" dirty="0"/>
          </a:p>
        </p:txBody>
      </p:sp>
      <p:sp>
        <p:nvSpPr>
          <p:cNvPr id="3" name="Text 1"/>
          <p:cNvSpPr/>
          <p:nvPr/>
        </p:nvSpPr>
        <p:spPr>
          <a:xfrm>
            <a:off x="2786641" y="2890482"/>
            <a:ext cx="3706391" cy="308283"/>
          </a:xfrm>
          <a:prstGeom prst="rect">
            <a:avLst/>
          </a:prstGeom>
          <a:noFill/>
          <a:ln/>
        </p:spPr>
        <p:txBody>
          <a:bodyPr wrap="square" rtlCol="0" anchor="t"/>
          <a:lstStyle/>
          <a:p>
            <a:pPr>
              <a:lnSpc>
                <a:spcPts val="2000"/>
              </a:lnSpc>
              <a:spcAft>
                <a:spcPts val="1200"/>
              </a:spcAft>
              <a:buSzPct val="100000"/>
            </a:pPr>
            <a:endParaRPr lang="en-US" sz="1200" dirty="0"/>
          </a:p>
        </p:txBody>
      </p:sp>
      <p:pic>
        <p:nvPicPr>
          <p:cNvPr id="1026" name="Picture 2" descr="Soldier Salute Meme Generator">
            <a:extLst>
              <a:ext uri="{FF2B5EF4-FFF2-40B4-BE49-F238E27FC236}">
                <a16:creationId xmlns:a16="http://schemas.microsoft.com/office/drawing/2014/main" id="{C2987B71-BE76-AC9B-CF6A-816A9F8EC9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9713" y="1552830"/>
            <a:ext cx="3473133" cy="2606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336</TotalTime>
  <Words>1200</Words>
  <Application>Microsoft Office PowerPoint</Application>
  <PresentationFormat>On-screen Show (16:9)</PresentationFormat>
  <Paragraphs>129</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Bell MT</vt:lpstr>
      <vt:lpstr>Century Gothic</vt:lpstr>
      <vt:lpstr>Plus Jakarta Sans</vt:lpstr>
      <vt:lpstr>Times New Roman</vt:lpstr>
      <vt:lpstr>Wingdings 3</vt:lpstr>
      <vt:lpstr>Wisp</vt:lpstr>
      <vt:lpstr>Group Members: Vipanshu Kumar Suman(0808IO221044) Divyam Pathak(0808IO221015)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Movie Review Sentiment Analysis Using Machine Learning</dc:title>
  <dc:subject>PptxGenJS Presentation</dc:subject>
  <dc:creator>Vipanshu Suman</dc:creator>
  <cp:lastModifiedBy>Vipanshu Suman</cp:lastModifiedBy>
  <cp:revision>19</cp:revision>
  <dcterms:created xsi:type="dcterms:W3CDTF">2024-09-27T19:35:33Z</dcterms:created>
  <dcterms:modified xsi:type="dcterms:W3CDTF">2024-10-05T05:10:02Z</dcterms:modified>
</cp:coreProperties>
</file>